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67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Track A (Leaky)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LR-L2</c:v>
                </c:pt>
                <c:pt idx="1">
                  <c:v>SVM</c:v>
                </c:pt>
                <c:pt idx="2">
                  <c:v>NB-Multi</c:v>
                </c:pt>
                <c:pt idx="3">
                  <c:v>NB-Comp</c:v>
                </c:pt>
                <c:pt idx="4">
                  <c:v>RF</c:v>
                </c:pt>
                <c:pt idx="5">
                  <c:v>XGB</c:v>
                </c:pt>
                <c:pt idx="6">
                  <c:v>LGBM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0.99160000000000004</c:v>
                </c:pt>
                <c:pt idx="1">
                  <c:v>0.99529999999999996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5F-40A1-81A2-D5B5370F62E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 B Clean</c:v>
                </c:pt>
              </c:strCache>
            </c:strRef>
          </c:tx>
          <c:spPr>
            <a:solidFill>
              <a:srgbClr val="006666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LR-L2</c:v>
                </c:pt>
                <c:pt idx="1">
                  <c:v>SVM</c:v>
                </c:pt>
                <c:pt idx="2">
                  <c:v>NB-Multi</c:v>
                </c:pt>
                <c:pt idx="3">
                  <c:v>NB-Comp</c:v>
                </c:pt>
                <c:pt idx="4">
                  <c:v>RF</c:v>
                </c:pt>
                <c:pt idx="5">
                  <c:v>XGB</c:v>
                </c:pt>
                <c:pt idx="6">
                  <c:v>LGBM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0.98909999999999998</c:v>
                </c:pt>
                <c:pt idx="1">
                  <c:v>0.99529999999999996</c:v>
                </c:pt>
                <c:pt idx="2">
                  <c:v>0.95750000000000002</c:v>
                </c:pt>
                <c:pt idx="3">
                  <c:v>0.95720000000000005</c:v>
                </c:pt>
                <c:pt idx="4">
                  <c:v>0.97189999999999999</c:v>
                </c:pt>
                <c:pt idx="5">
                  <c:v>0</c:v>
                </c:pt>
                <c:pt idx="6">
                  <c:v>0.98680000000000001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75F-40A1-81A2-D5B5370F62E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Track C Style</c:v>
                </c:pt>
              </c:strCache>
            </c:strRef>
          </c:tx>
          <c:spPr>
            <a:solidFill>
              <a:srgbClr val="1A5276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LR-L2</c:v>
                </c:pt>
                <c:pt idx="1">
                  <c:v>SVM</c:v>
                </c:pt>
                <c:pt idx="2">
                  <c:v>NB-Multi</c:v>
                </c:pt>
                <c:pt idx="3">
                  <c:v>NB-Comp</c:v>
                </c:pt>
                <c:pt idx="4">
                  <c:v>RF</c:v>
                </c:pt>
                <c:pt idx="5">
                  <c:v>XGB</c:v>
                </c:pt>
                <c:pt idx="6">
                  <c:v>LGBM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0.87780000000000002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0.91979999999999995</c:v>
                </c:pt>
                <c:pt idx="5">
                  <c:v>0.92190000000000005</c:v>
                </c:pt>
                <c:pt idx="6">
                  <c:v>0.92659999999999998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75F-40A1-81A2-D5B5370F62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8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6871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0" cy="73152"/>
          </a:xfrm>
          <a:prstGeom prst="rect">
            <a:avLst/>
          </a:prstGeom>
          <a:solidFill>
            <a:srgbClr val="7A1A1A">
              <a:alpha val="40000"/>
            </a:srgbClr>
          </a:solidFill>
          <a:ln w="12700">
            <a:solidFill>
              <a:srgbClr val="5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554480" y="0"/>
            <a:ext cx="1554480" cy="73152"/>
          </a:xfrm>
          <a:prstGeom prst="rect">
            <a:avLst/>
          </a:prstGeom>
          <a:solidFill>
            <a:srgbClr val="7A1A1A">
              <a:alpha val="40000"/>
            </a:srgbClr>
          </a:solidFill>
          <a:ln w="12700">
            <a:solidFill>
              <a:srgbClr val="5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108960" y="0"/>
            <a:ext cx="1554480" cy="73152"/>
          </a:xfrm>
          <a:prstGeom prst="rect">
            <a:avLst/>
          </a:prstGeom>
          <a:solidFill>
            <a:srgbClr val="7A1A1A">
              <a:alpha val="40000"/>
            </a:srgbClr>
          </a:solidFill>
          <a:ln w="12700">
            <a:solidFill>
              <a:srgbClr val="5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663440" y="0"/>
            <a:ext cx="1554480" cy="73152"/>
          </a:xfrm>
          <a:prstGeom prst="rect">
            <a:avLst/>
          </a:prstGeom>
          <a:solidFill>
            <a:srgbClr val="7A1A1A">
              <a:alpha val="40000"/>
            </a:srgbClr>
          </a:solidFill>
          <a:ln w="12700">
            <a:solidFill>
              <a:srgbClr val="5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217920" y="0"/>
            <a:ext cx="1554480" cy="73152"/>
          </a:xfrm>
          <a:prstGeom prst="rect">
            <a:avLst/>
          </a:prstGeom>
          <a:solidFill>
            <a:srgbClr val="7A1A1A">
              <a:alpha val="40000"/>
            </a:srgbClr>
          </a:solidFill>
          <a:ln w="12700">
            <a:solidFill>
              <a:srgbClr val="5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0" y="0"/>
            <a:ext cx="1554480" cy="73152"/>
          </a:xfrm>
          <a:prstGeom prst="rect">
            <a:avLst/>
          </a:prstGeom>
          <a:solidFill>
            <a:srgbClr val="7A1A1A">
              <a:alpha val="40000"/>
            </a:srgbClr>
          </a:solidFill>
          <a:ln w="12700">
            <a:solidFill>
              <a:srgbClr val="5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D4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654  ·  Texas A&amp;M University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9601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ISOT Fake News Detection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E8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Leakage-Aware NLP Study with Multi-Track Feature Engineering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00400" y="2697480"/>
            <a:ext cx="2743200" cy="457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880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Hareen Sai Vatikuti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 Purohith Arjun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Venkateswarlu Nagineni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380000"/>
          </a:solidFill>
          <a:ln w="12700">
            <a:solidFill>
              <a:srgbClr val="38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4709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 Dataset  ·  44,898 Articles  ·  Phase 1–4 Results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00000"/>
          </a:solidFill>
          <a:ln w="12700">
            <a:solidFill>
              <a:srgbClr val="5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Outline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73152" cy="658368"/>
          </a:xfrm>
          <a:prstGeom prst="rect">
            <a:avLst/>
          </a:prstGeom>
          <a:solidFill>
            <a:srgbClr val="500000"/>
          </a:solidFill>
          <a:ln w="12700">
            <a:solidFill>
              <a:srgbClr val="5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91640" y="10515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Loading, Leakage Detection &amp; Temporal Analysis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728216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728216"/>
            <a:ext cx="73152" cy="658368"/>
          </a:xfrm>
          <a:prstGeom prst="rect">
            <a:avLst/>
          </a:prstGeom>
          <a:solidFill>
            <a:srgbClr val="500000"/>
          </a:solidFill>
          <a:ln w="12700">
            <a:solidFill>
              <a:srgbClr val="5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81965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91640" y="1819656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Engineering: Length, Vocabulary, Readability &amp; Sentiment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496312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496312"/>
            <a:ext cx="73152" cy="658368"/>
          </a:xfrm>
          <a:prstGeom prst="rect">
            <a:avLst/>
          </a:prstGeom>
          <a:solidFill>
            <a:srgbClr val="500000"/>
          </a:solidFill>
          <a:ln w="12700">
            <a:solidFill>
              <a:srgbClr val="5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5877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91640" y="258775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Tracks: Leaky Baseline, Decontaminated TF-IDF &amp; Linguistic Style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264408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3264408"/>
            <a:ext cx="73152" cy="658368"/>
          </a:xfrm>
          <a:prstGeom prst="rect">
            <a:avLst/>
          </a:prstGeom>
          <a:solidFill>
            <a:srgbClr val="500000"/>
          </a:solidFill>
          <a:ln w="12700">
            <a:solidFill>
              <a:srgbClr val="5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33558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91640" y="335584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Training: LR, Naïve Bayes, SVM, Random Forest, LightGBM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4032504"/>
            <a:ext cx="8412480" cy="658368"/>
          </a:xfrm>
          <a:prstGeom prst="rect">
            <a:avLst/>
          </a:prstGeom>
          <a:solidFill>
            <a:srgbClr val="E8E0D8"/>
          </a:solidFill>
          <a:ln w="12700">
            <a:solidFill>
              <a:srgbClr val="D4CF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4032504"/>
            <a:ext cx="73152" cy="65836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412394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691640" y="4123944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Ensemble, Error Analysis &amp; Final Evaluation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00000"/>
          </a:solidFill>
          <a:ln w="12700">
            <a:solidFill>
              <a:srgbClr val="5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— Dataset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0" y="182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8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 Dataset  ·  44,898 Articles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896112"/>
            <a:ext cx="1536192" cy="960120"/>
          </a:xfrm>
          <a:prstGeom prst="rect">
            <a:avLst/>
          </a:prstGeom>
          <a:solidFill>
            <a:srgbClr val="500000"/>
          </a:solidFill>
          <a:ln w="12700">
            <a:solidFill>
              <a:srgbClr val="5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15361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44,898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426464"/>
            <a:ext cx="1536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Articles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39112" y="896112"/>
            <a:ext cx="1536192" cy="960120"/>
          </a:xfrm>
          <a:prstGeom prst="rect">
            <a:avLst/>
          </a:prstGeom>
          <a:solidFill>
            <a:srgbClr val="500000"/>
          </a:solidFill>
          <a:ln w="12700">
            <a:solidFill>
              <a:srgbClr val="5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39112" y="914400"/>
            <a:ext cx="15361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23,481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039112" y="1426464"/>
            <a:ext cx="1536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(0)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58184" y="896112"/>
            <a:ext cx="1536192" cy="960120"/>
          </a:xfrm>
          <a:prstGeom prst="rect">
            <a:avLst/>
          </a:prstGeom>
          <a:solidFill>
            <a:srgbClr val="500000"/>
          </a:solidFill>
          <a:ln w="12700">
            <a:solidFill>
              <a:srgbClr val="5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58184" y="914400"/>
            <a:ext cx="15361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21,417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58184" y="1426464"/>
            <a:ext cx="1536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(1)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77256" y="896112"/>
            <a:ext cx="1536192" cy="960120"/>
          </a:xfrm>
          <a:prstGeom prst="rect">
            <a:avLst/>
          </a:prstGeom>
          <a:solidFill>
            <a:srgbClr val="500000"/>
          </a:solidFill>
          <a:ln w="12700">
            <a:solidFill>
              <a:srgbClr val="5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77256" y="914400"/>
            <a:ext cx="15361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1.096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77256" y="1426464"/>
            <a:ext cx="1536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Ratio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96328" y="896112"/>
            <a:ext cx="1536192" cy="960120"/>
          </a:xfrm>
          <a:prstGeom prst="rect">
            <a:avLst/>
          </a:prstGeom>
          <a:solidFill>
            <a:srgbClr val="500000"/>
          </a:solidFill>
          <a:ln w="12700">
            <a:solidFill>
              <a:srgbClr val="5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196328" y="914400"/>
            <a:ext cx="15361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6,252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196328" y="1426464"/>
            <a:ext cx="1536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Texts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011680"/>
            <a:ext cx="411480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2011680"/>
            <a:ext cx="4114800" cy="347472"/>
          </a:xfrm>
          <a:prstGeom prst="rect">
            <a:avLst/>
          </a:prstGeom>
          <a:solidFill>
            <a:srgbClr val="500000"/>
          </a:solidFill>
          <a:ln w="12700">
            <a:solidFill>
              <a:srgbClr val="5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202996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Columns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24505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(object)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331720" y="24505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headline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28529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(object)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331720" y="28529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content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" y="3227832"/>
            <a:ext cx="3931920" cy="384048"/>
          </a:xfrm>
          <a:prstGeom prst="rect">
            <a:avLst/>
          </a:prstGeom>
          <a:solidFill>
            <a:srgbClr val="FFF3CD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" y="325526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(object)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331720" y="32552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Leaks label perfectly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36576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(object)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331720" y="36576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fake articles parseable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405993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(int64)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331720" y="40599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Fake, 1 = Real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9160" y="2011680"/>
            <a:ext cx="411480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709160" y="2011680"/>
            <a:ext cx="4114800" cy="347472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00600" y="202996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Label Leakage Findings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800600" y="248716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column: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36208" y="2487168"/>
            <a:ext cx="2496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accuracy = 1.000 — perfect predictor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00600" y="290779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Reuters byline: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36208" y="2907792"/>
            <a:ext cx="2496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99.8% of Real articles contain 'reuters'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00600" y="332841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Single-word acc.: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236208" y="3328416"/>
            <a:ext cx="2496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has_reuters feature → 99.2% accuracy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00600" y="37490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bias: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236208" y="3749040"/>
            <a:ext cx="2496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Fake articles have parseable dates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(2015–2017)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00600" y="416966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236208" y="4169664"/>
            <a:ext cx="2496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 on raw data detect SOURCE,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linguistic deception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00000"/>
          </a:solidFill>
          <a:ln w="12700">
            <a:solidFill>
              <a:srgbClr val="5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— Subject Column: Perfect Label Leakage</a:t>
            </a:r>
            <a:endParaRPr lang="en-US" sz="2200" dirty="0"/>
          </a:p>
        </p:txBody>
      </p:sp>
      <p:pic>
        <p:nvPicPr>
          <p:cNvPr id="4" name="Image 0" descr="/home/claude/WhatsApp_Image_2026-03-29_at_12_50_1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14400"/>
            <a:ext cx="5760720" cy="2560320"/>
          </a:xfrm>
          <a:prstGeom prst="rect">
            <a:avLst/>
          </a:prstGeom>
        </p:spPr>
      </p:pic>
      <p:pic>
        <p:nvPicPr>
          <p:cNvPr id="5" name="Image 1" descr="/home/claude/WhatsApp_Image_2026-03-29_at_12_50_11__2_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914400"/>
            <a:ext cx="2560320" cy="25603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20040" y="3611880"/>
            <a:ext cx="8503920" cy="1280160"/>
          </a:xfrm>
          <a:prstGeom prst="rect">
            <a:avLst/>
          </a:prstGeom>
          <a:solidFill>
            <a:srgbClr val="FFF3CD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320040" y="3611880"/>
            <a:ext cx="73152" cy="128016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502920" y="36576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categories perfectly separate Fake vs Real (AUC = 1.00). All fake articles fall under
'Government News', 'politics', 'News', etc.; all real articles under 'politicsNews' or 'worldnews'.
→ Subject must be excluded from all models. Reuters byline similarly excluded.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00000"/>
          </a:solidFill>
          <a:ln w="12700">
            <a:solidFill>
              <a:srgbClr val="5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 — Feature Engineering &amp; Hypothesis Testing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96112"/>
          <a:ext cx="8503920" cy="22860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 Median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Median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 Size (rb)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word_count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avg_word_len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0.401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type_token_ratio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0.140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title_words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−0.747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(largest)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char_count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unique_words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20040" y="3310128"/>
            <a:ext cx="20116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3"/>
          <p:cNvSpPr/>
          <p:nvPr/>
        </p:nvSpPr>
        <p:spPr>
          <a:xfrm>
            <a:off x="320040" y="3310128"/>
            <a:ext cx="2011680" cy="347472"/>
          </a:xfrm>
          <a:prstGeom prst="rect">
            <a:avLst/>
          </a:prstGeom>
          <a:solidFill>
            <a:srgbClr val="500000"/>
          </a:solidFill>
          <a:ln w="12700">
            <a:solidFill>
              <a:srgbClr val="5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93192" y="3328416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Flesch Ease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93192" y="370332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51.5 (Fake) vs 42.8 (Real)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93192" y="4187952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is easier to read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468880" y="3310128"/>
            <a:ext cx="20116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468880" y="3310128"/>
            <a:ext cx="2011680" cy="347472"/>
          </a:xfrm>
          <a:prstGeom prst="rect">
            <a:avLst/>
          </a:prstGeom>
          <a:solidFill>
            <a:srgbClr val="500000"/>
          </a:solidFill>
          <a:ln w="12700">
            <a:solidFill>
              <a:srgbClr val="5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542032" y="3328416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Grade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542032" y="370332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10.9 vs 12.7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542032" y="4187952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news uses higher grade level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17720" y="3310128"/>
            <a:ext cx="20116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617720" y="3310128"/>
            <a:ext cx="2011680" cy="347472"/>
          </a:xfrm>
          <a:prstGeom prst="rect">
            <a:avLst/>
          </a:prstGeom>
          <a:solidFill>
            <a:srgbClr val="500000"/>
          </a:solidFill>
          <a:ln w="12700">
            <a:solidFill>
              <a:srgbClr val="5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690872" y="3328416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 Compound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690872" y="370332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−0.19 vs +0.26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690872" y="4187952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= more negative sentiment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766560" y="3310128"/>
            <a:ext cx="20116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766560" y="3310128"/>
            <a:ext cx="2011680" cy="347472"/>
          </a:xfrm>
          <a:prstGeom prst="rect">
            <a:avLst/>
          </a:prstGeom>
          <a:solidFill>
            <a:srgbClr val="500000"/>
          </a:solidFill>
          <a:ln w="12700">
            <a:solidFill>
              <a:srgbClr val="5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839712" y="3328416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Excl. Density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839712" y="370332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≈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839712" y="4187952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Sig. difference at p≈0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00000"/>
          </a:solidFill>
          <a:ln w="12700">
            <a:solidFill>
              <a:srgbClr val="5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 — Sentiment Distribution &amp; Vocabulary Differences</a:t>
            </a:r>
            <a:endParaRPr lang="en-US" sz="2200" dirty="0"/>
          </a:p>
        </p:txBody>
      </p:sp>
      <p:pic>
        <p:nvPicPr>
          <p:cNvPr id="4" name="Image 0" descr="/home/claude/WhatsApp_Image_2026-03-29_at_12_50_1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68680"/>
            <a:ext cx="4297680" cy="2697480"/>
          </a:xfrm>
          <a:prstGeom prst="rect">
            <a:avLst/>
          </a:prstGeom>
        </p:spPr>
      </p:pic>
      <p:pic>
        <p:nvPicPr>
          <p:cNvPr id="5" name="Image 1" descr="/home/claude/WhatsApp_Image_2026-03-29_at_12_50_11__1_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868680"/>
            <a:ext cx="3977640" cy="26974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20040" y="370332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320040" y="3703320"/>
            <a:ext cx="73152" cy="1188720"/>
          </a:xfrm>
          <a:prstGeom prst="rect">
            <a:avLst/>
          </a:prstGeom>
          <a:solidFill>
            <a:srgbClr val="500000"/>
          </a:solidFill>
          <a:ln w="12700">
            <a:solidFill>
              <a:srgbClr val="5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457200" y="373075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Sentiment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404164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VADER compound = −0.19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negative peak at −1.0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emotionally charged language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2468880" y="370332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2468880" y="3703320"/>
            <a:ext cx="73152" cy="1188720"/>
          </a:xfrm>
          <a:prstGeom prst="rect">
            <a:avLst/>
          </a:prstGeom>
          <a:solidFill>
            <a:srgbClr val="500000"/>
          </a:solidFill>
          <a:ln w="12700">
            <a:solidFill>
              <a:srgbClr val="5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2606040" y="373075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Sentiment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606040" y="404164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VADER compound = +0.26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positive peak at +0.9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measured/neutral reporting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617720" y="370332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617720" y="3703320"/>
            <a:ext cx="73152" cy="1188720"/>
          </a:xfrm>
          <a:prstGeom prst="rect">
            <a:avLst/>
          </a:prstGeom>
          <a:solidFill>
            <a:srgbClr val="006666"/>
          </a:solidFill>
          <a:ln w="12700">
            <a:solidFill>
              <a:srgbClr val="00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4754880" y="373075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Vocabulary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754880" y="404164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terms: 'https', 'getty', 'pic', 'screenshot'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 of web scraping — not natural language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766560" y="370332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766560" y="3703320"/>
            <a:ext cx="73152" cy="1188720"/>
          </a:xfrm>
          <a:prstGeom prst="rect">
            <a:avLst/>
          </a:prstGeom>
          <a:solidFill>
            <a:srgbClr val="006666"/>
          </a:solidFill>
          <a:ln w="12700">
            <a:solidFill>
              <a:srgbClr val="00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6903720" y="373075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Vocabulary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903720" y="404164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terms: 'reuters', 'EU', 'talks', 'minister'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Geopolitical, formal journalistic register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00000"/>
          </a:solidFill>
          <a:ln w="12700">
            <a:solidFill>
              <a:srgbClr val="5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 — Feature Correlation Matrix</a:t>
            </a:r>
            <a:endParaRPr lang="en-US" sz="2200" dirty="0"/>
          </a:p>
        </p:txBody>
      </p:sp>
      <p:pic>
        <p:nvPicPr>
          <p:cNvPr id="4" name="Image 0" descr="/home/claude/WhatsApp_Image_2026-03-29_at_12_50_12__2_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68680"/>
            <a:ext cx="5303520" cy="4069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52160" y="868680"/>
            <a:ext cx="29718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852160" y="868680"/>
            <a:ext cx="2971800" cy="365760"/>
          </a:xfrm>
          <a:prstGeom prst="rect">
            <a:avLst/>
          </a:prstGeom>
          <a:solidFill>
            <a:srgbClr val="500000"/>
          </a:solidFill>
          <a:ln w="12700">
            <a:solidFill>
              <a:srgbClr val="5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943600" y="886968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943600" y="1353312"/>
            <a:ext cx="2743200" cy="530352"/>
          </a:xfrm>
          <a:prstGeom prst="rect">
            <a:avLst/>
          </a:prstGeom>
          <a:solidFill>
            <a:srgbClr val="FAF8F6"/>
          </a:solidFill>
          <a:ln w="12700">
            <a:solidFill>
              <a:srgbClr val="D4CF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016752" y="1371600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word_count ↔ char_count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016752" y="1600200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1.00 — perfectly collinear, only one needed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943600" y="1938528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016752" y="1956816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flesch_ease ↔ fk_grade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016752" y="2185416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−0.79 — expected inverse; either alone sufficient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943600" y="2523744"/>
            <a:ext cx="2743200" cy="530352"/>
          </a:xfrm>
          <a:prstGeom prst="rect">
            <a:avLst/>
          </a:prstGeom>
          <a:solidFill>
            <a:srgbClr val="FAF8F6"/>
          </a:solidFill>
          <a:ln w="12700">
            <a:solidFill>
              <a:srgbClr val="D4CF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016752" y="2542032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title_words → label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016752" y="2770632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−0.58 — strongest single predictor in Track C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943600" y="3108960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016752" y="3127248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avg_word_len → label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016752" y="3355848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+0.23 — real news uses longer words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943600" y="3694176"/>
            <a:ext cx="2743200" cy="530352"/>
          </a:xfrm>
          <a:prstGeom prst="rect">
            <a:avLst/>
          </a:prstGeom>
          <a:solidFill>
            <a:srgbClr val="FAF8F6"/>
          </a:solidFill>
          <a:ln w="12700">
            <a:solidFill>
              <a:srgbClr val="D4CF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016752" y="3712464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vader_compound ↔ vader_neg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016752" y="3941064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−0.66 — expected structural correlation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943600" y="4279392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016752" y="4297680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vader_pos → label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016752" y="4526280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−0.09 — weak; polarity more complex than positivity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00000"/>
          </a:solidFill>
          <a:ln w="12700">
            <a:solidFill>
              <a:srgbClr val="5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 — Three Feature Tracks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73152" cy="1234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75488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98755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— Raw TF-IDF (Leaky Baseline)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0" y="9875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44,898 × 50,000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1371600"/>
            <a:ext cx="5760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'reuters', source bylines, scraped artifacts.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model trained here detects SOURCE identity,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linguistic deception patterns.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0" y="14447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LEAKY — for comparison only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286000"/>
            <a:ext cx="8503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2286000"/>
            <a:ext cx="73152" cy="1234440"/>
          </a:xfrm>
          <a:prstGeom prst="rect">
            <a:avLst/>
          </a:prstGeom>
          <a:solidFill>
            <a:srgbClr val="006666"/>
          </a:solidFill>
          <a:ln w="12700">
            <a:solidFill>
              <a:srgbClr val="00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423160"/>
            <a:ext cx="475488" cy="475488"/>
          </a:xfrm>
          <a:prstGeom prst="rect">
            <a:avLst/>
          </a:prstGeom>
          <a:solidFill>
            <a:srgbClr val="006666"/>
          </a:solidFill>
          <a:ln w="12700">
            <a:solidFill>
              <a:srgbClr val="00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4231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51560" y="235915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 — Decontaminated TF-IDF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23591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44,898 × 50,000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2743200"/>
            <a:ext cx="5760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Reuters + source fingerprints removed.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articles still contain 'reuters' after cleaning.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LSA reduction → 300 SVD components (15.9% variance).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0" y="28163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Clean content-based features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657600"/>
            <a:ext cx="8503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3657600"/>
            <a:ext cx="73152" cy="12344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3794760"/>
            <a:ext cx="475488" cy="47548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7947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51560" y="373075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 — Linguistic Style (14 features)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83680" y="37307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44,898 × 14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51560" y="4114800"/>
            <a:ext cx="5760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word_count, type_token_ratio, flesch_ease, fk_grade,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smog, vader_compound/pos/neg, excl_density,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avg_word_len, sent_count, title_words, caps_ratio, quest_density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00800" y="41879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Interpretable, source-agnostic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00000"/>
          </a:solidFill>
          <a:ln w="12700">
            <a:solidFill>
              <a:srgbClr val="5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4 — Model Results Summary (5-Fold CV)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68680"/>
          <a:ext cx="8503920" cy="402336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Gap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LR-L2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(Leaky)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LR-L2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(Clean)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LR-L2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(Style)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0.8778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0.9059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Multinomial NB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(Clean)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0.9571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Complement NB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(Clean)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(Linear)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(Clean)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(Style)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0.9198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B-LSA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(Style)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0.9774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0.9393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B-LSA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(Style)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20040" y="4937760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Best clean model: SVM on Track B (F1 = 0.9953, AUC = 0.9997)  ·  Track A inflated by source fingerprints  ·  Track C is most interpretable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00000"/>
          </a:solidFill>
          <a:ln w="12700">
            <a:solidFill>
              <a:srgbClr val="5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4 — F1 Score Comparison Across Models &amp; Tracks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20040" y="868680"/>
          <a:ext cx="85039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00000"/>
          </a:solidFill>
          <a:ln w="12700">
            <a:solidFill>
              <a:srgbClr val="5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 — Phases 1–4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069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06908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0149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0149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Has Severe Leakage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435608"/>
            <a:ext cx="37947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column (AUC = 1.00) and Reuters byline (99.2% accuracy) perfectly predict labels. All models must be evaluated on Track B/C to measure genuine language understanding.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069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069080" cy="384048"/>
          </a:xfrm>
          <a:prstGeom prst="rect">
            <a:avLst/>
          </a:prstGeom>
          <a:solidFill>
            <a:srgbClr val="500000"/>
          </a:solidFill>
          <a:ln w="12700">
            <a:solidFill>
              <a:srgbClr val="5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10149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12080" y="10149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Length Is the Strongest Style Signal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435608"/>
            <a:ext cx="37947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size rb = −0.747 for title_words. Fake headlines average 14 words; real average 10. This single feature carries more discriminative power than readability scores.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926080"/>
            <a:ext cx="4069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2926080"/>
            <a:ext cx="4069080" cy="384048"/>
          </a:xfrm>
          <a:prstGeom prst="rect">
            <a:avLst/>
          </a:prstGeom>
          <a:solidFill>
            <a:srgbClr val="006666"/>
          </a:solidFill>
          <a:ln w="12700">
            <a:solidFill>
              <a:srgbClr val="00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29809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298094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Dominates on Clean TF-IDF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401568"/>
            <a:ext cx="37947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SVM on Track B achieves F1 = 0.9953, AUC = 0.9997 — best clean-data performance. Small train-test gap (0.005) indicates low overfitting.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926080"/>
            <a:ext cx="4069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63440" y="2926080"/>
            <a:ext cx="4069080" cy="38404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0" y="29809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12080" y="298094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Features Alone Reach ~93% F1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3401568"/>
            <a:ext cx="37947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 (14 interpretable features) with tree-based models achieves 0.92–0.93 F1 with no vocabulary needed — strong evidence that writing style genuinely differs.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709160"/>
            <a:ext cx="8503920" cy="274320"/>
          </a:xfrm>
          <a:prstGeom prst="rect">
            <a:avLst/>
          </a:prstGeom>
          <a:solidFill>
            <a:srgbClr val="E8E0D8"/>
          </a:solidFill>
          <a:ln w="12700">
            <a:solidFill>
              <a:srgbClr val="D4CF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47274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Phase 5 — Ensemble methods, error analysis, cross-dataset generalization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5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2377440"/>
            <a:ext cx="2743200" cy="457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300" dirty="0">
                <a:solidFill>
                  <a:srgbClr val="B8860B"/>
                </a:solidFill>
                <a:latin typeface="Calibri" pitchFamily="34" charset="0"/>
              </a:rPr>
              <a:t>PHASE 5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</a:rPr>
              <a:t>Evaluation</a:t>
            </a:r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E8E0D8"/>
                </a:solidFill>
                <a:latin typeface="Calibri" pitchFamily="34" charset="0"/>
              </a:rPr>
              <a:t>Hold-out Evaluation  ·  McNemar’s Test  ·  Error Analysis  ·  Interpretability</a:t>
            </a:r>
          </a:p>
        </p:txBody>
      </p:sp>
      <p:sp>
        <p:nvSpPr>
          <p:cNvPr id="6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380000"/>
          </a:solidFill>
          <a:ln w="12700">
            <a:solidFill>
              <a:srgbClr val="38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4709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CFC9"/>
                </a:solidFill>
                <a:latin typeface="Calibri" pitchFamily="34" charset="0"/>
              </a:rPr>
              <a:t>ISOT Dataset  ·  44,898 Articles  ·  Final Hold-out: 8,980 Samples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00000"/>
          </a:solidFill>
          <a:ln w="12700">
            <a:solidFill>
              <a:srgbClr val="5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</a:rPr>
              <a:t>Phase 5.1 &amp; 5.2 — Evaluation Framework &amp; Hold-out Results</a:t>
            </a:r>
            <a:endParaRPr lang="en-US" sz="1400" dirty="0">
              <a:solidFill>
                <a:srgbClr val="E8C87A"/>
              </a:solidFill>
              <a:latin typeface="Calibri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3886200" cy="3749040"/>
          </a:xfrm>
          <a:prstGeom prst="rect">
            <a:avLst/>
          </a:prstGeom>
          <a:solidFill>
            <a:srgbClr val="F5F0EB"/>
          </a:solidFill>
          <a:ln w="19050">
            <a:solidFill>
              <a:srgbClr val="D4C5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3886200" cy="91440"/>
          </a:xfrm>
          <a:prstGeom prst="rect">
            <a:avLst/>
          </a:prstGeom>
          <a:solidFill>
            <a:srgbClr val="500000"/>
          </a:solidFill>
          <a:ln w="12700">
            <a:solidFill>
              <a:srgbClr val="5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220" y="1187669"/>
            <a:ext cx="379584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 dirty="0">
                <a:latin typeface="Georgia" pitchFamily="34" charset="0"/>
              </a:rPr>
              <a:t>Why Accuracy Alone Is Not Enough</a:t>
            </a:r>
          </a:p>
        </p:txBody>
      </p:sp>
      <p:sp>
        <p:nvSpPr>
          <p:cNvPr id="7" name="Text 5"/>
          <p:cNvSpPr/>
          <p:nvPr/>
        </p:nvSpPr>
        <p:spPr>
          <a:xfrm>
            <a:off x="365760" y="1689538"/>
            <a:ext cx="3795840" cy="33375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C2A2A"/>
                </a:solidFill>
                <a:latin typeface="Calibri" pitchFamily="34" charset="0"/>
              </a:rPr>
              <a:t>Accuracy counts the fraction of correct predictions. On near-balanced data it is a reasonable starting point but treats all errors as equally bad.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500000"/>
                </a:solidFill>
                <a:latin typeface="Calibri" pitchFamily="34" charset="0"/>
              </a:rPr>
              <a:t>Two errors have very different consequences: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</a:rPr>
              <a:t>False Positive</a:t>
            </a:r>
            <a:r>
              <a:rPr lang="en-US" sz="1200" dirty="0">
                <a:solidFill>
                  <a:srgbClr val="3C2A2A"/>
                </a:solidFill>
                <a:latin typeface="Calibri" pitchFamily="34" charset="0"/>
              </a:rPr>
              <a:t> — flags real news as fake. Potentially suppresses legitimate journalism.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</a:rPr>
              <a:t>False Negative</a:t>
            </a:r>
            <a:r>
              <a:rPr lang="en-US" sz="1200" dirty="0">
                <a:solidFill>
                  <a:srgbClr val="3C2A2A"/>
                </a:solidFill>
                <a:latin typeface="Calibri" pitchFamily="34" charset="0"/>
              </a:rPr>
              <a:t> — lets fake news through. Allows misinformation to spread.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C2A2A"/>
                </a:solidFill>
                <a:latin typeface="Calibri" pitchFamily="34" charset="0"/>
              </a:rPr>
              <a:t>We therefore report </a:t>
            </a:r>
            <a:r>
              <a:rPr lang="en-US" sz="1200" b="1" dirty="0">
                <a:solidFill>
                  <a:srgbClr val="3C2A2A"/>
                </a:solidFill>
                <a:latin typeface="Calibri" pitchFamily="34" charset="0"/>
              </a:rPr>
              <a:t>Precision, Recall, F1, ROC-AUC, and PR-AUC</a:t>
            </a:r>
            <a:r>
              <a:rPr lang="en-US" sz="1200" dirty="0">
                <a:solidFill>
                  <a:srgbClr val="3C2A2A"/>
                </a:solidFill>
                <a:latin typeface="Calibri" pitchFamily="34" charset="0"/>
              </a:rPr>
              <a:t> alongside confusion matrices on the final hold-out set (8,980 samples).</a:t>
            </a:r>
          </a:p>
        </p:txBody>
      </p:sp>
      <p:sp>
        <p:nvSpPr>
          <p:cNvPr id="8" name="Shape 6"/>
          <p:cNvSpPr/>
          <p:nvPr/>
        </p:nvSpPr>
        <p:spPr>
          <a:xfrm>
            <a:off x="4480560" y="868680"/>
            <a:ext cx="4343160" cy="3749040"/>
          </a:xfrm>
          <a:prstGeom prst="rect">
            <a:avLst/>
          </a:prstGeom>
          <a:solidFill>
            <a:srgbClr val="F5F0EB"/>
          </a:solidFill>
          <a:ln w="19050">
            <a:solidFill>
              <a:srgbClr val="D4C5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80560" y="868680"/>
            <a:ext cx="4343160" cy="91440"/>
          </a:xfrm>
          <a:prstGeom prst="rect">
            <a:avLst/>
          </a:prstGeom>
          <a:solidFill>
            <a:srgbClr val="500000"/>
          </a:solidFill>
          <a:ln w="12700">
            <a:solidFill>
              <a:srgbClr val="5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26280" y="1145575"/>
            <a:ext cx="425196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 dirty="0">
                <a:latin typeface="Georgia" pitchFamily="34" charset="0"/>
              </a:rPr>
              <a:t>Final Hold-out Results (n = 8,980)</a:t>
            </a:r>
          </a:p>
        </p:txBody>
      </p:sp>
      <p:sp>
        <p:nvSpPr>
          <p:cNvPr id="11" name="Shape 9"/>
          <p:cNvSpPr/>
          <p:nvPr/>
        </p:nvSpPr>
        <p:spPr>
          <a:xfrm>
            <a:off x="4526280" y="1555906"/>
            <a:ext cx="4206240" cy="1097280"/>
          </a:xfrm>
          <a:prstGeom prst="rect">
            <a:avLst/>
          </a:prstGeom>
          <a:solidFill>
            <a:srgbClr val="EDE5DC"/>
          </a:solidFill>
          <a:ln w="12700">
            <a:solidFill>
              <a:srgbClr val="C4B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94800" y="1568640"/>
            <a:ext cx="4114680" cy="10689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00000"/>
                </a:solidFill>
                <a:latin typeface="Georgia" pitchFamily="34" charset="0"/>
              </a:rPr>
              <a:t>LR-L2 (Track B)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3C2A2A"/>
                </a:solidFill>
                <a:latin typeface="Calibri" pitchFamily="34" charset="0"/>
              </a:rPr>
              <a:t>Accuracy: 99%  ·  F1: 0.99  ·  ROC-AUC: 0.9992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3C2A2A"/>
                </a:solidFill>
                <a:latin typeface="Calibri" pitchFamily="34" charset="0"/>
              </a:rPr>
              <a:t>PR-AUC: 0.9991  ·  FP: 39  ·  FN: 62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6B5A4E"/>
                </a:solidFill>
                <a:latin typeface="Calibri" pitchFamily="34" charset="0"/>
              </a:rPr>
              <a:t>Confusion: [[4634, 62], [39, 4245]]</a:t>
            </a:r>
          </a:p>
        </p:txBody>
      </p:sp>
      <p:sp>
        <p:nvSpPr>
          <p:cNvPr id="13" name="Shape 11"/>
          <p:cNvSpPr/>
          <p:nvPr/>
        </p:nvSpPr>
        <p:spPr>
          <a:xfrm>
            <a:off x="4522763" y="2698906"/>
            <a:ext cx="4206240" cy="1097280"/>
          </a:xfrm>
          <a:prstGeom prst="rect">
            <a:avLst/>
          </a:prstGeom>
          <a:solidFill>
            <a:srgbClr val="500000"/>
          </a:solidFill>
          <a:ln w="12700">
            <a:solidFill>
              <a:srgbClr val="38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68543" y="2752650"/>
            <a:ext cx="4114680" cy="10689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C87A"/>
                </a:solidFill>
                <a:latin typeface="Georgia" pitchFamily="34" charset="0"/>
              </a:rPr>
              <a:t>SVM Linear (Track B)  ★ Best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F5F0EB"/>
                </a:solidFill>
                <a:latin typeface="Calibri" pitchFamily="34" charset="0"/>
              </a:rPr>
              <a:t>Accuracy: 100%  ·  F1: 1.00  ·  ROC-AUC: 0.9998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F5F0EB"/>
                </a:solidFill>
                <a:latin typeface="Calibri" pitchFamily="34" charset="0"/>
              </a:rPr>
              <a:t>PR-AUC: 0.9998  ·  FP: 25  ·  FN: 16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D4CFC9"/>
                </a:solidFill>
                <a:latin typeface="Calibri" pitchFamily="34" charset="0"/>
              </a:rPr>
              <a:t>Confusion: [[4680, 16], [25, 4259]]</a:t>
            </a:r>
          </a:p>
        </p:txBody>
      </p:sp>
      <p:sp>
        <p:nvSpPr>
          <p:cNvPr id="15" name="Shape 13"/>
          <p:cNvSpPr/>
          <p:nvPr/>
        </p:nvSpPr>
        <p:spPr>
          <a:xfrm>
            <a:off x="4526280" y="3960055"/>
            <a:ext cx="4206240" cy="411480"/>
          </a:xfrm>
          <a:prstGeom prst="rect">
            <a:avLst/>
          </a:prstGeom>
          <a:solidFill>
            <a:srgbClr val="EDE5DC"/>
          </a:solidFill>
          <a:ln w="12700">
            <a:solidFill>
              <a:srgbClr val="C4B49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480560" y="3979066"/>
            <a:ext cx="4114680" cy="382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00000"/>
                </a:solidFill>
                <a:latin typeface="Calibri" pitchFamily="34" charset="0"/>
              </a:rPr>
              <a:t>SVM reduces errors by 62% vs LR-L2 (41 total vs 101 total misclassifications)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00000"/>
          </a:solidFill>
          <a:ln w="12700">
            <a:solidFill>
              <a:srgbClr val="5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</a:rPr>
              <a:t>Phase 5.2 — ROC &amp; Precision-Recall Curves</a:t>
            </a:r>
            <a:endParaRPr lang="en-US" sz="1400" dirty="0">
              <a:solidFill>
                <a:srgbClr val="E8C87A"/>
              </a:solidFill>
              <a:latin typeface="Calibri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8686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00000"/>
                </a:solidFill>
                <a:latin typeface="Georgia" pitchFamily="34" charset="0"/>
              </a:rPr>
              <a:t>LR-L2   AUC = 0.9992  ·  PR-AUC = 0.9991</a:t>
            </a:r>
          </a:p>
        </p:txBody>
      </p:sp>
      <p:pic>
        <p:nvPicPr>
          <p:cNvPr id="5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4206240" cy="1828800"/>
          </a:xfrm>
          <a:prstGeom prst="rect">
            <a:avLst/>
          </a:prstGeom>
        </p:spPr>
      </p:pic>
      <p:sp>
        <p:nvSpPr>
          <p:cNvPr id="6" name="Text 4"/>
          <p:cNvSpPr/>
          <p:nvPr/>
        </p:nvSpPr>
        <p:spPr>
          <a:xfrm>
            <a:off x="4617720" y="8686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00000"/>
                </a:solidFill>
                <a:latin typeface="Georgia" pitchFamily="34" charset="0"/>
              </a:rPr>
              <a:t>SVM   AUC = 0.9998  ·  PR-AUC = 0.9998  </a:t>
            </a:r>
          </a:p>
        </p:txBody>
      </p:sp>
      <p:pic>
        <p:nvPicPr>
          <p:cNvPr id="7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097280"/>
            <a:ext cx="4206240" cy="1828800"/>
          </a:xfrm>
          <a:prstGeom prst="rect">
            <a:avLst/>
          </a:prstGeom>
        </p:spPr>
      </p:pic>
      <p:sp>
        <p:nvSpPr>
          <p:cNvPr id="8" name="Shape 6"/>
          <p:cNvSpPr/>
          <p:nvPr/>
        </p:nvSpPr>
        <p:spPr>
          <a:xfrm>
            <a:off x="320040" y="3017520"/>
            <a:ext cx="8503680" cy="1600200"/>
          </a:xfrm>
          <a:prstGeom prst="rect">
            <a:avLst/>
          </a:prstGeom>
          <a:solidFill>
            <a:srgbClr val="F5F0EB"/>
          </a:solidFill>
          <a:ln w="19050">
            <a:solidFill>
              <a:srgbClr val="D4C5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3063240"/>
            <a:ext cx="8412480" cy="1508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00000"/>
                </a:solidFill>
                <a:latin typeface="Georgia" pitchFamily="34" charset="0"/>
              </a:rPr>
              <a:t>Key Observations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3C2A2A"/>
                </a:solidFill>
                <a:latin typeface="Calibri" pitchFamily="34" charset="0"/>
              </a:rPr>
              <a:t>Both models achieve near-perfect discrimination on decontaminated text. The ROC curve hugs the top-left corner with AUC &gt; 0.999, and the PR curve sustains precision ≈ 1.0 across nearly all recall levels — indicating virtually no precision-recall tradeoff.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C2A2A"/>
                </a:solidFill>
                <a:latin typeface="Calibri" pitchFamily="34" charset="0"/>
              </a:rPr>
              <a:t>SVM outperforms LR-L2: AUC 0.9998 vs 0.9992. Both exceed 0.999 AUC — confirming that even without source leakage, content-based TF-IDF carries strong discriminative signal.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00000"/>
          </a:solidFill>
          <a:ln w="12700">
            <a:solidFill>
              <a:srgbClr val="5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</a:rPr>
              <a:t>Phase 5.3 &amp; 5.4 — McNemar’s Test &amp; Error Analysis</a:t>
            </a:r>
            <a:endParaRPr lang="en-US" sz="1400" dirty="0">
              <a:solidFill>
                <a:srgbClr val="E8C87A"/>
              </a:solidFill>
              <a:latin typeface="Calibri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822600"/>
            <a:ext cx="3977640" cy="1920240"/>
          </a:xfrm>
          <a:prstGeom prst="rect">
            <a:avLst/>
          </a:prstGeom>
          <a:solidFill>
            <a:srgbClr val="500000"/>
          </a:solidFill>
          <a:ln w="12700">
            <a:solidFill>
              <a:srgbClr val="38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868320"/>
            <a:ext cx="3977640" cy="170343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br>
              <a:rPr lang="en-US" sz="1300" b="1" dirty="0">
                <a:solidFill>
                  <a:srgbClr val="E8C87A"/>
                </a:solidFill>
                <a:latin typeface="Georgia" pitchFamily="34" charset="0"/>
              </a:rPr>
            </a:br>
            <a:r>
              <a:rPr lang="en-US" sz="1300" b="1" dirty="0">
                <a:solidFill>
                  <a:srgbClr val="E8C87A"/>
                </a:solidFill>
                <a:latin typeface="Calibri" pitchFamily="34" charset="0"/>
              </a:rPr>
              <a:t>LR-L2 vs SVM  </a:t>
            </a:r>
            <a:r>
              <a:rPr lang="en-US" sz="1300" dirty="0">
                <a:solidFill>
                  <a:srgbClr val="E8C87A"/>
                </a:solidFill>
                <a:latin typeface="Calibri" pitchFamily="34" charset="0"/>
              </a:rPr>
              <a:t>·  p &lt; 0.001</a:t>
            </a:r>
            <a:br>
              <a:rPr lang="en-US" sz="1300" b="1" dirty="0">
                <a:solidFill>
                  <a:srgbClr val="E8C87A"/>
                </a:solidFill>
                <a:latin typeface="Georgia" pitchFamily="34" charset="0"/>
              </a:rPr>
            </a:br>
            <a:r>
              <a:rPr lang="en-US" sz="1300" b="1" dirty="0">
                <a:solidFill>
                  <a:srgbClr val="E8C87A"/>
                </a:solidFill>
                <a:latin typeface="Georgia" pitchFamily="34" charset="0"/>
              </a:rPr>
              <a:t>McNemar’s Test: LR-L2 vs SVM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CFC9"/>
                </a:solidFill>
                <a:latin typeface="Calibri" pitchFamily="34" charset="0"/>
              </a:rPr>
              <a:t>Both correct:       8,877</a:t>
            </a:r>
          </a:p>
          <a:p>
            <a:r>
              <a:rPr lang="en-US" sz="1200" dirty="0">
                <a:solidFill>
                  <a:srgbClr val="D4CFC9"/>
                </a:solidFill>
                <a:latin typeface="Calibri" pitchFamily="34" charset="0"/>
              </a:rPr>
              <a:t>LR-L2 right, SVM wrong:   2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D4CFC9"/>
                </a:solidFill>
                <a:latin typeface="Calibri" pitchFamily="34" charset="0"/>
              </a:rPr>
              <a:t>LR-L2 wrong, SVM right:  62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D4CFC9"/>
                </a:solidFill>
                <a:latin typeface="Calibri" pitchFamily="34" charset="0"/>
              </a:rPr>
              <a:t>Both wrong:             39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E8C87A"/>
                </a:solidFill>
                <a:latin typeface="Calibri" pitchFamily="34" charset="0"/>
              </a:rPr>
              <a:t>p = 2.26e-16  →  SIGNIFICANT</a:t>
            </a:r>
            <a:endParaRPr lang="en-US" sz="1200" dirty="0"/>
          </a:p>
          <a:p>
            <a:pPr marL="0" indent="0">
              <a:buNone/>
            </a:pPr>
            <a:r>
              <a:rPr lang="en-US" sz="1100" i="1" dirty="0">
                <a:solidFill>
                  <a:srgbClr val="D4CFC9"/>
                </a:solidFill>
                <a:latin typeface="Calibri" pitchFamily="34" charset="0"/>
              </a:rPr>
              <a:t>SVM’s advantage over LR-L2 is statistically significant. The difference in errors is not due to chance.</a:t>
            </a:r>
          </a:p>
        </p:txBody>
      </p:sp>
      <p:sp>
        <p:nvSpPr>
          <p:cNvPr id="6" name="Shape 4"/>
          <p:cNvSpPr/>
          <p:nvPr/>
        </p:nvSpPr>
        <p:spPr>
          <a:xfrm>
            <a:off x="4480560" y="868680"/>
            <a:ext cx="4343160" cy="868680"/>
          </a:xfrm>
          <a:prstGeom prst="rect">
            <a:avLst/>
          </a:prstGeom>
          <a:solidFill>
            <a:srgbClr val="F5F0EB"/>
          </a:solidFill>
          <a:ln w="19050">
            <a:solidFill>
              <a:srgbClr val="D4C5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480560" y="868680"/>
            <a:ext cx="4343160" cy="914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26280" y="878760"/>
            <a:ext cx="4251960" cy="8229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Georgia" pitchFamily="34" charset="0"/>
              </a:rPr>
              <a:t>False Positives (n=39) — Real flagged as Fake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3C2A2A"/>
                </a:solidFill>
                <a:latin typeface="Calibri" pitchFamily="34" charset="0"/>
              </a:rPr>
              <a:t>Avg word count: 378  ·  Mostly worldnews / politics articles with emotionally charged phrasing that resembles fake news style</a:t>
            </a:r>
          </a:p>
        </p:txBody>
      </p:sp>
      <p:sp>
        <p:nvSpPr>
          <p:cNvPr id="9" name="Shape 7"/>
          <p:cNvSpPr/>
          <p:nvPr/>
        </p:nvSpPr>
        <p:spPr>
          <a:xfrm>
            <a:off x="4480560" y="1783440"/>
            <a:ext cx="4343160" cy="1005840"/>
          </a:xfrm>
          <a:prstGeom prst="rect">
            <a:avLst/>
          </a:prstGeom>
          <a:solidFill>
            <a:srgbClr val="F5F0EB"/>
          </a:solidFill>
          <a:ln w="19050">
            <a:solidFill>
              <a:srgbClr val="D4C5B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480560" y="1783440"/>
            <a:ext cx="4343160" cy="91440"/>
          </a:xfrm>
          <a:prstGeom prst="rect">
            <a:avLst/>
          </a:prstGeom>
          <a:solidFill>
            <a:srgbClr val="7A5C1E"/>
          </a:solidFill>
          <a:ln w="12700">
            <a:solidFill>
              <a:srgbClr val="7A5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26280" y="1829160"/>
            <a:ext cx="4251960" cy="9144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8860B"/>
                </a:solidFill>
                <a:latin typeface="Georgia" pitchFamily="34" charset="0"/>
              </a:rPr>
              <a:t>False Negatives (n=62) — Fake slipped through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3C2A2A"/>
                </a:solidFill>
                <a:latin typeface="Calibri" pitchFamily="34" charset="0"/>
              </a:rPr>
              <a:t>Avg word count: 417  ·  Fake articles using measured journalistic language (e.g. CalPERS profit sharing, Facebook political influence) that mimics real reporting style</a:t>
            </a:r>
          </a:p>
        </p:txBody>
      </p:sp>
      <p:sp>
        <p:nvSpPr>
          <p:cNvPr id="12" name="Shape 10"/>
          <p:cNvSpPr/>
          <p:nvPr/>
        </p:nvSpPr>
        <p:spPr>
          <a:xfrm>
            <a:off x="320040" y="2880360"/>
            <a:ext cx="8503680" cy="1737360"/>
          </a:xfrm>
          <a:prstGeom prst="rect">
            <a:avLst/>
          </a:prstGeom>
          <a:solidFill>
            <a:srgbClr val="F5F0EB"/>
          </a:solidFill>
          <a:ln w="19050">
            <a:solidFill>
              <a:srgbClr val="D4C5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2880360"/>
            <a:ext cx="8503680" cy="91440"/>
          </a:xfrm>
          <a:prstGeom prst="rect">
            <a:avLst/>
          </a:prstGeom>
          <a:solidFill>
            <a:srgbClr val="500000"/>
          </a:solidFill>
          <a:ln w="12700">
            <a:solidFill>
              <a:srgbClr val="5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2926080"/>
            <a:ext cx="8366760" cy="16459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buNone/>
            </a:pPr>
            <a:r>
              <a:rPr lang="en-US" sz="1200" b="1" dirty="0">
                <a:latin typeface="Georgia" pitchFamily="34" charset="0"/>
              </a:rPr>
              <a:t>Pattern: Hard cases cluster around style ambiguity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3C2A2A"/>
                </a:solidFill>
                <a:latin typeface="Calibri" pitchFamily="34" charset="0"/>
              </a:rPr>
              <a:t>Both FP and FN articles have higher-than-average word counts (377 and 417 vs dataset median ~360), suggesting that longer, more detailed articles blur the decision boundary. Fake articles that mimic journalistic register and real articles with emotional political framing are the primary failure modes — neither a precision nor recall issue alone.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00000"/>
          </a:solidFill>
          <a:ln w="12700">
            <a:solidFill>
              <a:srgbClr val="5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</a:rPr>
              <a:t>Phase 6 — Interpretability: Top Predictors &amp; Calibration</a:t>
            </a:r>
            <a:r>
              <a:rPr lang="en-US" sz="1400" dirty="0">
                <a:solidFill>
                  <a:srgbClr val="E8C87A"/>
                </a:solidFill>
                <a:latin typeface="Calibri" pitchFamily="34" charset="0"/>
              </a:rPr>
              <a:t>   </a:t>
            </a:r>
          </a:p>
        </p:txBody>
      </p:sp>
      <p:pic>
        <p:nvPicPr>
          <p:cNvPr id="4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5669280" cy="2194560"/>
          </a:xfrm>
          <a:prstGeom prst="rect">
            <a:avLst/>
          </a:prstGeom>
        </p:spPr>
      </p:pic>
      <p:pic>
        <p:nvPicPr>
          <p:cNvPr id="5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1840" y="868680"/>
            <a:ext cx="2651760" cy="2194560"/>
          </a:xfrm>
          <a:prstGeom prst="rect">
            <a:avLst/>
          </a:prstGeom>
        </p:spPr>
      </p:pic>
      <p:sp>
        <p:nvSpPr>
          <p:cNvPr id="6" name="Shape 4"/>
          <p:cNvSpPr/>
          <p:nvPr/>
        </p:nvSpPr>
        <p:spPr>
          <a:xfrm>
            <a:off x="320040" y="3154680"/>
            <a:ext cx="8503680" cy="1606680"/>
          </a:xfrm>
          <a:prstGeom prst="rect">
            <a:avLst/>
          </a:prstGeom>
          <a:solidFill>
            <a:srgbClr val="F5F0EB"/>
          </a:solidFill>
          <a:ln w="19050">
            <a:solidFill>
              <a:srgbClr val="D4C5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3154680"/>
            <a:ext cx="8503680" cy="91440"/>
          </a:xfrm>
          <a:prstGeom prst="rect">
            <a:avLst/>
          </a:prstGeom>
          <a:solidFill>
            <a:srgbClr val="500000"/>
          </a:solidFill>
          <a:ln w="12700">
            <a:solidFill>
              <a:srgbClr val="5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3200400"/>
            <a:ext cx="8321040" cy="15152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buNone/>
            </a:pPr>
            <a:r>
              <a:rPr lang="en-US" sz="1200" b="1" dirty="0">
                <a:latin typeface="Georgia" pitchFamily="34" charset="0"/>
              </a:rPr>
              <a:t>Interpretation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</a:rPr>
              <a:t>Fake predictors</a:t>
            </a:r>
            <a:r>
              <a:rPr lang="en-US" sz="1200" dirty="0">
                <a:solidFill>
                  <a:srgbClr val="3C2A2A"/>
                </a:solidFill>
                <a:latin typeface="Calibri" pitchFamily="34" charset="0"/>
              </a:rPr>
              <a:t> — “video”, “via”, “read more”, “featured image” reflect web-scraping artifacts; “obama”, “hillary”, “gop” indicate partisan targeting.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</a:rPr>
              <a:t>Real predictors</a:t>
            </a:r>
            <a:r>
              <a:rPr lang="en-US" sz="1200" dirty="0">
                <a:solidFill>
                  <a:srgbClr val="3C2A2A"/>
                </a:solidFill>
                <a:latin typeface="Calibri" pitchFamily="34" charset="0"/>
              </a:rPr>
              <a:t> — “said”, “washington”, day-of-week phrases signal wire-service attribution and dateline conventions of formal journalism.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7A5C1E"/>
                </a:solidFill>
                <a:latin typeface="Calibri" pitchFamily="34" charset="0"/>
              </a:rPr>
              <a:t>Calibration</a:t>
            </a:r>
            <a:r>
              <a:rPr lang="en-US" sz="1200" dirty="0">
                <a:solidFill>
                  <a:srgbClr val="3C2A2A"/>
                </a:solidFill>
                <a:latin typeface="Calibri" pitchFamily="34" charset="0"/>
              </a:rPr>
              <a:t> — LR-L2 is better calibrated than SVM-Platt; both models are overconfident in the 0.3–0.6 probability range where calibration diverges from the diagonal.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5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200400" y="2423160"/>
            <a:ext cx="2743200" cy="457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E8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Hareen Sai Vatikuti  ·  Raj Purohith Arjun  ·  Venkateswarlu Nagineni
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654  ·  Texas A&amp;M University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380000"/>
          </a:solidFill>
          <a:ln w="12700">
            <a:solidFill>
              <a:srgbClr val="38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4709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 Dataset  ·  Phases 1–5  ·  44,898 Articles  ·  5-Fold Stratified CV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1783</Words>
  <Application>Microsoft Office PowerPoint</Application>
  <PresentationFormat>On-screen Show (16:9)</PresentationFormat>
  <Paragraphs>321</Paragraphs>
  <Slides>17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ISOT Fake News Detection</dc:title>
  <dc:subject>PptxGenJS Presentation</dc:subject>
  <dc:creator>Hareen Sai Vatikuti, Raj Purohith Arjun, Venkateswarlu Nagineni</dc:creator>
  <cp:lastModifiedBy>Nagineni, Venkateswarlu</cp:lastModifiedBy>
  <cp:revision>2</cp:revision>
  <dcterms:created xsi:type="dcterms:W3CDTF">2026-03-31T20:09:41Z</dcterms:created>
  <dcterms:modified xsi:type="dcterms:W3CDTF">2026-04-01T20:02:11Z</dcterms:modified>
</cp:coreProperties>
</file>