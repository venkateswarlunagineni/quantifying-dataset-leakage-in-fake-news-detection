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9"/>
  </p:notesMasterIdLst>
  <p:sldIdLst>
    <p:sldId id="256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9" r:id="rId26"/>
    <p:sldId id="280" r:id="rId27"/>
    <p:sldId id="281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Track A (Leaky)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LR-L2</c:v>
                </c:pt>
                <c:pt idx="1">
                  <c:v>SVM</c:v>
                </c:pt>
                <c:pt idx="2">
                  <c:v>NB-Multi</c:v>
                </c:pt>
                <c:pt idx="3">
                  <c:v>NB-Comp</c:v>
                </c:pt>
                <c:pt idx="4">
                  <c:v>RF</c:v>
                </c:pt>
                <c:pt idx="5">
                  <c:v>XGB</c:v>
                </c:pt>
                <c:pt idx="6">
                  <c:v>LGBM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0.99160000000000004</c:v>
                </c:pt>
                <c:pt idx="1">
                  <c:v>0.99160000000000004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04-4485-8214-213365A4B0D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Track B Clean</c:v>
                </c:pt>
              </c:strCache>
            </c:strRef>
          </c:tx>
          <c:spPr>
            <a:solidFill>
              <a:srgbClr val="1F5C5C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LR-L2</c:v>
                </c:pt>
                <c:pt idx="1">
                  <c:v>SVM</c:v>
                </c:pt>
                <c:pt idx="2">
                  <c:v>NB-Multi</c:v>
                </c:pt>
                <c:pt idx="3">
                  <c:v>NB-Comp</c:v>
                </c:pt>
                <c:pt idx="4">
                  <c:v>RF</c:v>
                </c:pt>
                <c:pt idx="5">
                  <c:v>XGB</c:v>
                </c:pt>
                <c:pt idx="6">
                  <c:v>LGBM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0.98909999999999998</c:v>
                </c:pt>
                <c:pt idx="1">
                  <c:v>0.99529999999999996</c:v>
                </c:pt>
                <c:pt idx="2">
                  <c:v>0.95750000000000002</c:v>
                </c:pt>
                <c:pt idx="3">
                  <c:v>0.95720000000000005</c:v>
                </c:pt>
                <c:pt idx="4">
                  <c:v>0.97189999999999999</c:v>
                </c:pt>
                <c:pt idx="6">
                  <c:v>0.98680000000000001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04-4485-8214-213365A4B0D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Track C Style</c:v>
                </c:pt>
              </c:strCache>
            </c:strRef>
          </c:tx>
          <c:spPr>
            <a:solidFill>
              <a:srgbClr val="2C3E6B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LR-L2</c:v>
                </c:pt>
                <c:pt idx="1">
                  <c:v>SVM</c:v>
                </c:pt>
                <c:pt idx="2">
                  <c:v>NB-Multi</c:v>
                </c:pt>
                <c:pt idx="3">
                  <c:v>NB-Comp</c:v>
                </c:pt>
                <c:pt idx="4">
                  <c:v>RF</c:v>
                </c:pt>
                <c:pt idx="5">
                  <c:v>XGB</c:v>
                </c:pt>
                <c:pt idx="6">
                  <c:v>LGBM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0.87780000000000002</c:v>
                </c:pt>
                <c:pt idx="4">
                  <c:v>0.91979999999999995</c:v>
                </c:pt>
                <c:pt idx="5">
                  <c:v>0.92190000000000005</c:v>
                </c:pt>
                <c:pt idx="6">
                  <c:v>0.92659999999999998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04-4485-8214-213365A4B0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0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85"/>
        </c:scaling>
        <c:delete val="0"/>
        <c:axPos val="l"/>
        <c:majorGridlines>
          <c:spPr>
            <a:ln w="6350" cap="flat">
              <a:solidFill>
                <a:srgbClr val="D0C8C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04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5F0E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743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116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kern="0" spc="300" dirty="0">
                <a:solidFill>
                  <a:srgbClr val="C0A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654  ·  Texas A&amp;M University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981223"/>
            <a:ext cx="7505114" cy="400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dirty="0">
                <a:solidFill>
                  <a:schemeClr val="bg1"/>
                </a:solidFill>
              </a:rPr>
              <a:t>Quantifying Dataset Leakage in Fake News Detection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157276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EDD8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Case Study on the ISOT Dataset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2176272"/>
            <a:ext cx="3840480" cy="91440"/>
          </a:xfrm>
          <a:prstGeom prst="rect">
            <a:avLst/>
          </a:prstGeom>
          <a:solidFill>
            <a:srgbClr val="A0782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395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Hareen Sai Vatikuti   ·   Raj Purohith Arjun   ·   Venkateswarlu Nagineni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0" y="4736592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— Dataset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858000" y="73152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0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 Dataset  ·  44,898 Articles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56032" y="1161288"/>
            <a:ext cx="1664208" cy="82296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56032" y="118872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44,898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" y="1645920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Articles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93392" y="1161288"/>
            <a:ext cx="1664208" cy="82296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993392" y="118872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23,481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93392" y="1645920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(0)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30752" y="1161288"/>
            <a:ext cx="1664208" cy="82296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730752" y="118872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21,417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30752" y="1645920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(1)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68112" y="1161288"/>
            <a:ext cx="1664208" cy="82296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68112" y="118872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1.096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468112" y="1645920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05472" y="1161288"/>
            <a:ext cx="1664208" cy="82296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205472" y="1188720"/>
            <a:ext cx="16642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6,252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205472" y="1645920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Texts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6032" y="2130552"/>
            <a:ext cx="4206240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47472" y="216712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Columns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56032" y="2496312"/>
            <a:ext cx="4206240" cy="4572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65760" y="25877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54480" y="25877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(object)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468880" y="25877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headline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56032" y="2980944"/>
            <a:ext cx="4206240" cy="4572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65760" y="307238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554480" y="307238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(object)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468880" y="3072384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content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56032" y="3465576"/>
            <a:ext cx="4206240" cy="457200"/>
          </a:xfrm>
          <a:prstGeom prst="rect">
            <a:avLst/>
          </a:prstGeom>
          <a:solidFill>
            <a:srgbClr val="FFF5D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65760" y="355701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554480" y="355701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(object)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68880" y="355701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07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Leaks label perfectly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56032" y="3950208"/>
            <a:ext cx="4206240" cy="4572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5760" y="4041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554480" y="404164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(object)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468880" y="404164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fake articles parseable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56032" y="4434840"/>
            <a:ext cx="4206240" cy="4572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65760" y="45262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554480" y="45262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(int64)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468880" y="45262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Fake, 1 = Real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681728" y="2130552"/>
            <a:ext cx="4206240" cy="347472"/>
          </a:xfrm>
          <a:prstGeom prst="rect">
            <a:avLst/>
          </a:prstGeom>
          <a:solidFill>
            <a:srgbClr val="A0782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73168" y="216712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 Label Leakage Findings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681728" y="2496312"/>
            <a:ext cx="4206240" cy="4572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73168" y="258775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column: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217920" y="2569464"/>
            <a:ext cx="25786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accuracy = 1.000 — perfect predictor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681728" y="2980944"/>
            <a:ext cx="4206240" cy="4572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773168" y="3072384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 byline: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217920" y="3054096"/>
            <a:ext cx="25786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 of Real articles contain 'reuters'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681728" y="3465576"/>
            <a:ext cx="4206240" cy="4572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773168" y="3557016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Single-word acc.: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217920" y="3538728"/>
            <a:ext cx="25786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has_reuters feature → 99.2% accuracy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681728" y="3950208"/>
            <a:ext cx="4206240" cy="4572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773168" y="4041648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bias: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217920" y="4023360"/>
            <a:ext cx="25786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Fake articles have parseable dates (2015–2017)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681728" y="4434840"/>
            <a:ext cx="4206240" cy="4572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773168" y="452628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217920" y="4507992"/>
            <a:ext cx="25786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trained on raw data detect SOURCE, not linguistic deception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— Subject Column: Perfect Label Leakage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188720"/>
            <a:ext cx="4663440" cy="30175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188720"/>
            <a:ext cx="3840480" cy="3017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56032" y="4315968"/>
            <a:ext cx="8631936" cy="640080"/>
          </a:xfrm>
          <a:prstGeom prst="rect">
            <a:avLst/>
          </a:prstGeom>
          <a:solidFill>
            <a:srgbClr val="FFF5D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256032" y="4315968"/>
            <a:ext cx="73152" cy="640080"/>
          </a:xfrm>
          <a:prstGeom prst="rect">
            <a:avLst/>
          </a:prstGeom>
          <a:solidFill>
            <a:srgbClr val="A0782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411480" y="43708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07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417320" y="434340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categories perfectly separate Fake vs Real (AUC = 1.00). All fake articles fall under 'Government News', 'politics', 'News', etc.; all real articles under 'politicsNews' or 'worldnews'. → Subject must be excluded from all models. Reuters byline similarly excluded.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1 — Temporal Analysis &amp; Duplicate Content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188720"/>
            <a:ext cx="8631936" cy="2560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56032" y="3913632"/>
            <a:ext cx="2816352" cy="102412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56032" y="3913632"/>
            <a:ext cx="2816352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47472" y="39410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33,030 Missing Dates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47472" y="42793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of entries have unparseable or missing publication dates — temporal features excluded from all model tracks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00400" y="3913632"/>
            <a:ext cx="2816352" cy="102412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200400" y="3913632"/>
            <a:ext cx="2816352" cy="329184"/>
          </a:xfrm>
          <a:prstGeom prst="rect">
            <a:avLst/>
          </a:prstGeom>
          <a:solidFill>
            <a:srgbClr val="A0782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291840" y="39410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Fake: 2015–2017 Only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91840" y="42793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articles have parseable dates spanning 2015–2017 only. Real articles lack consistent temporal coverage — strong temporal bias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44768" y="3913632"/>
            <a:ext cx="2816352" cy="102412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144768" y="3913632"/>
            <a:ext cx="2816352" cy="329184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236208" y="39410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6,252 Duplicate Texts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236208" y="42793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6,252 duplicate body texts and 6,169 duplicate titles identified. 6,852 near-duplicates via shared prefix — reduces effective diversity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— Feature Engineering &amp; Hypothesis Testing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188720"/>
            <a:ext cx="1508760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10896" y="1243584"/>
            <a:ext cx="1399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764792" y="1188720"/>
            <a:ext cx="1097280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19656" y="1243584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Median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62072" y="1188720"/>
            <a:ext cx="1097280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916936" y="1243584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Median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59352" y="1188720"/>
            <a:ext cx="1097280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014216" y="1243584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MW p-value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56632" y="1188720"/>
            <a:ext cx="1005840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11496" y="1243584"/>
            <a:ext cx="896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(rb)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62472" y="1188720"/>
            <a:ext cx="1325880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117336" y="1243584"/>
            <a:ext cx="1216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121615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Bonferroni threshold: p &lt; 0.0083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6032" y="1572768"/>
            <a:ext cx="150876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0896" y="1627632"/>
            <a:ext cx="1399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word_count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764792" y="1572768"/>
            <a:ext cx="10972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819656" y="162763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363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862072" y="1572768"/>
            <a:ext cx="10972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916936" y="162763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359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959352" y="1572768"/>
            <a:ext cx="10972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014216" y="162763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3.29e-13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56632" y="1572768"/>
            <a:ext cx="100584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11496" y="1627632"/>
            <a:ext cx="896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−0.040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62472" y="1572768"/>
            <a:ext cx="13258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117336" y="1627632"/>
            <a:ext cx="1216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56032" y="1938528"/>
            <a:ext cx="150876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10896" y="1993392"/>
            <a:ext cx="1399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avg_word_len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764792" y="1938528"/>
            <a:ext cx="109728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819656" y="199339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4.946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862072" y="1938528"/>
            <a:ext cx="109728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916936" y="199339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5.170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959352" y="1938528"/>
            <a:ext cx="109728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014216" y="199339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0.00e+00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056632" y="1938528"/>
            <a:ext cx="100584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111496" y="1993392"/>
            <a:ext cx="896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+0.401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62472" y="1938528"/>
            <a:ext cx="132588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117336" y="1993392"/>
            <a:ext cx="1216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56032" y="2304288"/>
            <a:ext cx="150876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10896" y="2359152"/>
            <a:ext cx="1399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type_token_ratio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764792" y="2304288"/>
            <a:ext cx="10972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819656" y="235915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0.590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862072" y="2304288"/>
            <a:ext cx="10972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916936" y="235915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0.607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959352" y="2304288"/>
            <a:ext cx="10972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014216" y="235915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1.31e-145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056632" y="2304288"/>
            <a:ext cx="100584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5111496" y="2359152"/>
            <a:ext cx="896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+0.140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062472" y="2304288"/>
            <a:ext cx="13258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117336" y="2359152"/>
            <a:ext cx="1216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256032" y="2670048"/>
            <a:ext cx="1508760" cy="347472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10896" y="2724912"/>
            <a:ext cx="1399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title_words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1764792" y="2670048"/>
            <a:ext cx="1097280" cy="347472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819656" y="272491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2862072" y="2670048"/>
            <a:ext cx="1097280" cy="347472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2916936" y="272491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3959352" y="2670048"/>
            <a:ext cx="1097280" cy="347472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4014216" y="272491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0.00e+00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5056632" y="2670048"/>
            <a:ext cx="1005840" cy="347472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111496" y="2724912"/>
            <a:ext cx="896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−0.747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062472" y="2670048"/>
            <a:ext cx="1325880" cy="347472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6117336" y="2724912"/>
            <a:ext cx="1216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(largest)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256032" y="3035808"/>
            <a:ext cx="150876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10896" y="3090672"/>
            <a:ext cx="1399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char_count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1764792" y="3035808"/>
            <a:ext cx="10972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1819656" y="309067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2166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2862072" y="3035808"/>
            <a:ext cx="10972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2916936" y="309067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2222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3959352" y="3035808"/>
            <a:ext cx="10972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014216" y="309067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2.14e-02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056632" y="3035808"/>
            <a:ext cx="100584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5111496" y="3090672"/>
            <a:ext cx="896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−0.013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6062472" y="3035808"/>
            <a:ext cx="1325880" cy="3474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6117336" y="3090672"/>
            <a:ext cx="1216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56032" y="3401568"/>
            <a:ext cx="150876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310896" y="3456432"/>
            <a:ext cx="1399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unique_words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1764792" y="3401568"/>
            <a:ext cx="109728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1819656" y="345643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216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2862072" y="3401568"/>
            <a:ext cx="109728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2916936" y="345643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3959352" y="3401568"/>
            <a:ext cx="109728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4014216" y="3456432"/>
            <a:ext cx="987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1.57e-07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5056632" y="3401568"/>
            <a:ext cx="100584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111496" y="3456432"/>
            <a:ext cx="8961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−0.029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6062472" y="3401568"/>
            <a:ext cx="1325880" cy="34747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6117336" y="3456432"/>
            <a:ext cx="1216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89" name="Shape 87"/>
          <p:cNvSpPr/>
          <p:nvPr/>
        </p:nvSpPr>
        <p:spPr>
          <a:xfrm>
            <a:off x="256032" y="3913632"/>
            <a:ext cx="2103120" cy="102412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256032" y="3913632"/>
            <a:ext cx="2103120" cy="329184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347472" y="394106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Flesch Ease</a:t>
            </a:r>
            <a:endParaRPr lang="en-US" sz="1150" dirty="0"/>
          </a:p>
        </p:txBody>
      </p:sp>
      <p:sp>
        <p:nvSpPr>
          <p:cNvPr id="92" name="Text 90"/>
          <p:cNvSpPr/>
          <p:nvPr/>
        </p:nvSpPr>
        <p:spPr>
          <a:xfrm>
            <a:off x="347472" y="4297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51.5 (Fake) vs 42.8 (Real)</a:t>
            </a:r>
            <a:endParaRPr lang="en-US" sz="1300" dirty="0"/>
          </a:p>
        </p:txBody>
      </p:sp>
      <p:sp>
        <p:nvSpPr>
          <p:cNvPr id="93" name="Text 91"/>
          <p:cNvSpPr/>
          <p:nvPr/>
        </p:nvSpPr>
        <p:spPr>
          <a:xfrm>
            <a:off x="347472" y="45720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 easier to read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441448" y="3913632"/>
            <a:ext cx="2103120" cy="102412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2441448" y="3913632"/>
            <a:ext cx="2103120" cy="329184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2532888" y="394106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Grade</a:t>
            </a:r>
            <a:endParaRPr lang="en-US" sz="1150" dirty="0"/>
          </a:p>
        </p:txBody>
      </p:sp>
      <p:sp>
        <p:nvSpPr>
          <p:cNvPr id="97" name="Text 95"/>
          <p:cNvSpPr/>
          <p:nvPr/>
        </p:nvSpPr>
        <p:spPr>
          <a:xfrm>
            <a:off x="2532888" y="4297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 vs 12.7</a:t>
            </a:r>
            <a:endParaRPr lang="en-US" sz="1300" dirty="0"/>
          </a:p>
        </p:txBody>
      </p:sp>
      <p:sp>
        <p:nvSpPr>
          <p:cNvPr id="98" name="Text 96"/>
          <p:cNvSpPr/>
          <p:nvPr/>
        </p:nvSpPr>
        <p:spPr>
          <a:xfrm>
            <a:off x="2532888" y="45720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uses higher grade level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626864" y="3913632"/>
            <a:ext cx="2103120" cy="102412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4626864" y="3913632"/>
            <a:ext cx="2103120" cy="329184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4718304" y="394106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Compound</a:t>
            </a:r>
            <a:endParaRPr lang="en-US" sz="1150" dirty="0"/>
          </a:p>
        </p:txBody>
      </p:sp>
      <p:sp>
        <p:nvSpPr>
          <p:cNvPr id="102" name="Text 100"/>
          <p:cNvSpPr/>
          <p:nvPr/>
        </p:nvSpPr>
        <p:spPr>
          <a:xfrm>
            <a:off x="4718304" y="4297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−0.19 vs +0.26</a:t>
            </a:r>
            <a:endParaRPr lang="en-US" sz="1300" dirty="0"/>
          </a:p>
        </p:txBody>
      </p:sp>
      <p:sp>
        <p:nvSpPr>
          <p:cNvPr id="103" name="Text 101"/>
          <p:cNvSpPr/>
          <p:nvPr/>
        </p:nvSpPr>
        <p:spPr>
          <a:xfrm>
            <a:off x="4718304" y="45720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= more negative sentiment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6812280" y="3913632"/>
            <a:ext cx="2103120" cy="102412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6812280" y="3913632"/>
            <a:ext cx="2103120" cy="329184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6903720" y="3941064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Density</a:t>
            </a:r>
            <a:endParaRPr lang="en-US" sz="1150" dirty="0"/>
          </a:p>
        </p:txBody>
      </p:sp>
      <p:sp>
        <p:nvSpPr>
          <p:cNvPr id="107" name="Text 105"/>
          <p:cNvSpPr/>
          <p:nvPr/>
        </p:nvSpPr>
        <p:spPr>
          <a:xfrm>
            <a:off x="6903720" y="42976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≈ 0</a:t>
            </a:r>
            <a:endParaRPr lang="en-US" sz="1300" dirty="0"/>
          </a:p>
        </p:txBody>
      </p:sp>
      <p:sp>
        <p:nvSpPr>
          <p:cNvPr id="108" name="Text 106"/>
          <p:cNvSpPr/>
          <p:nvPr/>
        </p:nvSpPr>
        <p:spPr>
          <a:xfrm>
            <a:off x="6903720" y="457200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Sig. difference at p≈0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— Word Count &amp; Sentiment Distributions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188720"/>
            <a:ext cx="4297680" cy="283464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188720"/>
            <a:ext cx="4224528" cy="28346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56032" y="4133088"/>
            <a:ext cx="4261104" cy="8046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256032" y="4133088"/>
            <a:ext cx="73152" cy="8046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402336" y="41605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Count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02336" y="4434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medians (Fake: 363, Real: 359) but Real shows higher variance — bimodal distribution with more long-form content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700016" y="4133088"/>
            <a:ext cx="4261104" cy="8046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700016" y="4133088"/>
            <a:ext cx="73152" cy="804672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846320" y="416052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 Sentiment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4846320" y="4434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Fake: stronger negative peak at −1.0, median −0.19. Real: dominant positive peak at +0.9, median +0.26. Both bimodal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— Vocabulary Differences: Word Clouds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188720"/>
            <a:ext cx="8631936" cy="2697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56032" y="4005072"/>
            <a:ext cx="2816352" cy="93268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56032" y="4005072"/>
            <a:ext cx="2816352" cy="31089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47472" y="4032504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Vocabulary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47472" y="4361688"/>
            <a:ext cx="2651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Dominant: 'said', 'Trump', 'one', 'people'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'image via', 'pic', 'twitter' — web scraping artifacts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Opinion/emotional framing language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00400" y="4005072"/>
            <a:ext cx="2816352" cy="93268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200400" y="4005072"/>
            <a:ext cx="2816352" cy="310896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291840" y="4032504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Vocabulary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91840" y="4361688"/>
            <a:ext cx="2651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Dominant: 'said', 'government', 'Trump', 'White House'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'Reuters', 'Wednesday', 'United State' — formal reporting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Time/place references: structured journalism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44768" y="4005072"/>
            <a:ext cx="2816352" cy="93268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144768" y="4005072"/>
            <a:ext cx="2816352" cy="310896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236208" y="4032504"/>
            <a:ext cx="2651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Distinction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236208" y="4361688"/>
            <a:ext cx="2651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news: day-of-week markers, official titles, datelines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news: social media artifacts, informal language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Vocabulary alone highly discriminative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2 — Feature Correlation Matrix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188720"/>
            <a:ext cx="5120640" cy="3703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577840" y="1188720"/>
            <a:ext cx="3310128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669280" y="1225296"/>
            <a:ext cx="3127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577840" y="1554480"/>
            <a:ext cx="3310128" cy="5303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669280" y="1591056"/>
            <a:ext cx="3127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word_count ↔ char_count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669280" y="1810512"/>
            <a:ext cx="31272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1.00 — perfectly collinear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needed in any model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577840" y="2121408"/>
            <a:ext cx="3310128" cy="5303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69280" y="2157984"/>
            <a:ext cx="3127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flesch_ease ↔ fk_grade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0" y="2377440"/>
            <a:ext cx="31272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−0.79 — expected inverse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alone is sufficient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577840" y="2688336"/>
            <a:ext cx="3310128" cy="5303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669280" y="2724912"/>
            <a:ext cx="3127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title_words → label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669280" y="2944368"/>
            <a:ext cx="31272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−0.58 — strongest predictor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Track C features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577840" y="3255264"/>
            <a:ext cx="3310128" cy="5303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669280" y="3291840"/>
            <a:ext cx="3127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avg_word_len → label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669280" y="3511296"/>
            <a:ext cx="31272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+0.23 — real news uses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longer, more complex words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3822192"/>
            <a:ext cx="3310128" cy="5303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669280" y="3858768"/>
            <a:ext cx="3127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vader_compound ↔ vader_neg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669280" y="4078224"/>
            <a:ext cx="31272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−0.66 — expected structural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in VADER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577840" y="4389120"/>
            <a:ext cx="3310128" cy="5303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5669280" y="4425696"/>
            <a:ext cx="3127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vader_pos → label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669280" y="4645152"/>
            <a:ext cx="31272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−0.09 — weak; polarity is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complex than positivity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— Three Feature Tracks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161288"/>
            <a:ext cx="8613648" cy="12618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325880"/>
            <a:ext cx="658368" cy="65836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6583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78992" y="1252728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 — Raw TF-IDF (Leaky Baseline)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0" y="1252728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44,898 × 50,000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78992" y="1581912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'reuters', source bylines, scraped artifacts.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model trained here detects SOURCE identity,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linguistic deception patterns.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0" y="1636776"/>
            <a:ext cx="2395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A078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LEAKY — for comparison only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496312"/>
            <a:ext cx="8613648" cy="12618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2660904"/>
            <a:ext cx="658368" cy="658368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" y="2752344"/>
            <a:ext cx="6583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78992" y="25877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 — Decontaminated TF-IDF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587752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44,898 × 50,000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78992" y="2916936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 + source fingerprints removed.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articles still contain 'reuters' after cleaning.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LSA reduction → 300 SVD components (15.9% variance).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0" y="2971800"/>
            <a:ext cx="2395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Clean content-based features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3831336"/>
            <a:ext cx="8613648" cy="126187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74320" y="3995928"/>
            <a:ext cx="658368" cy="658368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74320" y="4087368"/>
            <a:ext cx="6583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078992" y="3922776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 — Linguistic Style (14 features)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922776"/>
            <a:ext cx="2395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C3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44,898 × 14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4251960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word_count, type_token_ratio, flesch_ease, fk_grade,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smog, vader_compound/pos/neg, excl_density,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avg_word_len, sent_count, title_words, caps_ratio, quest_density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306824"/>
            <a:ext cx="2395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C3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Interpretable, source-agnostic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— Step 3.4: Dimensionality Reduction with LSA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188720"/>
            <a:ext cx="4178808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216152"/>
            <a:ext cx="3995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Reduce Dimensions?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600200"/>
            <a:ext cx="4178808" cy="10058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56032" y="1600200"/>
            <a:ext cx="1005840" cy="100584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56032" y="173736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50K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56032" y="222199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0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 features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25880" y="1709928"/>
            <a:ext cx="3017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Tree-based models are extremely slow on sparse matrices this large. Logistic Regression and SVM handle 50k directly, but ensemble methods need reduction.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" y="2679192"/>
            <a:ext cx="4178808" cy="10058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2679192"/>
            <a:ext cx="1005840" cy="100584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6032" y="2816352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56032" y="330098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0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components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788920"/>
            <a:ext cx="3017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Truncated SVD (LSA) compresses 50,000 sparse TF-IDF features into 300 dense semantic dimensions — 15.9% of variance retained.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" y="3758184"/>
            <a:ext cx="4178808" cy="10058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56032" y="3758184"/>
            <a:ext cx="1005840" cy="100584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6032" y="3895344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~167×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56032" y="4379976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0B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25880" y="3867912"/>
            <a:ext cx="3017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makes Random Forest and LightGBM tractable on Track B. The reduced representation captures latent topics across co-occurring terms.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17720" y="1188720"/>
            <a:ext cx="4270248" cy="347472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09160" y="1216152"/>
            <a:ext cx="4087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Truncated SVD, Not PCA?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1600200"/>
            <a:ext cx="4270248" cy="10058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17720" y="1600200"/>
            <a:ext cx="54864" cy="1005840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27448" y="166420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PCA limitation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27448" y="1929384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computing a dense covariance matrix (50,000 × 50,000 = 2.5B entries). For TF-IDF this would require enormous memory — computationally infeasible.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17720" y="2679192"/>
            <a:ext cx="4270248" cy="10058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17720" y="2679192"/>
            <a:ext cx="54864" cy="1005840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27448" y="2743200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Truncated SVD advantage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27448" y="3008376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directly on the sparse TF-IDF matrix without materialising the dense covariance. Decomposes: X ≈ U · Σ · Vᵀ, keeping only top-300 singular values.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17720" y="3758184"/>
            <a:ext cx="4270248" cy="10058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617720" y="3758184"/>
            <a:ext cx="54864" cy="1005840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27448" y="3822192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LSA semantics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27448" y="4087368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resulting 300-dimensional space captures latent semantic relationships — words that appear in similar contexts are close together, even without direct co-occurrence.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56032" y="4828032"/>
            <a:ext cx="8631936" cy="237744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47472" y="484632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B-LSA: 44,898 articles × 300 SVD components  ·  Used for: Random Forest &amp; LightGBM  ·  Variance retained: 15.9%  ·  Tracks A &amp; B full-dim used for LR &amp; SVM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3 — Text Preprocessing &amp; Decontamination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161288"/>
            <a:ext cx="1627632" cy="19202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161288"/>
            <a:ext cx="1627632" cy="4114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1795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76656" y="1197864"/>
            <a:ext cx="1170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627632"/>
            <a:ext cx="1444752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text converted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lowercase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casing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938528" y="1892808"/>
            <a:ext cx="109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011680" y="1161288"/>
            <a:ext cx="1627632" cy="19202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11680" y="1161288"/>
            <a:ext cx="1627632" cy="4114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57400" y="11795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14016" y="1197864"/>
            <a:ext cx="1170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03120" y="1627632"/>
            <a:ext cx="1444752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tokens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Punctuation stripped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chars removed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75888" y="1892808"/>
            <a:ext cx="109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1161288"/>
            <a:ext cx="1627632" cy="19202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1161288"/>
            <a:ext cx="1627632" cy="4114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794760" y="11795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51376" y="1197864"/>
            <a:ext cx="1170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1627632"/>
            <a:ext cx="1444752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common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words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(NLTK stopwords)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13248" y="1892808"/>
            <a:ext cx="109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0" y="1161288"/>
            <a:ext cx="1627632" cy="19202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486400" y="1161288"/>
            <a:ext cx="1627632" cy="4114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532120" y="11795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888736" y="1197864"/>
            <a:ext cx="1170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&amp;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Lemma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77840" y="1627632"/>
            <a:ext cx="1444752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 Stemmer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WordNet Lemmatiser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to root forms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150608" y="1892808"/>
            <a:ext cx="1097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223760" y="1161288"/>
            <a:ext cx="1627632" cy="1920240"/>
          </a:xfrm>
          <a:prstGeom prst="rect">
            <a:avLst/>
          </a:prstGeom>
          <a:solidFill>
            <a:srgbClr val="FFF5D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223760" y="1161288"/>
            <a:ext cx="1627632" cy="411480"/>
          </a:xfrm>
          <a:prstGeom prst="rect">
            <a:avLst/>
          </a:prstGeom>
          <a:solidFill>
            <a:srgbClr val="A0782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269480" y="11795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626096" y="1197864"/>
            <a:ext cx="11704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Decontam.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15200" y="1627632"/>
            <a:ext cx="1444752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'Reuters'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bylines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artifacts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Pub. signatures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74320" y="3218688"/>
            <a:ext cx="8613648" cy="347472"/>
          </a:xfrm>
          <a:prstGeom prst="rect">
            <a:avLst/>
          </a:prstGeom>
          <a:solidFill>
            <a:srgbClr val="A0782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84048" y="3255264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Decontamination Details — What was removed and why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74320" y="3602736"/>
            <a:ext cx="4206240" cy="43891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" y="3602736"/>
            <a:ext cx="54864" cy="43891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02336" y="3639312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 byline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920240" y="3648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 of real articles → direct source ID, not linguistic content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17720" y="3602736"/>
            <a:ext cx="4206240" cy="43891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617720" y="3602736"/>
            <a:ext cx="54864" cy="43891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45736" y="3639312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signatures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263640" y="3648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Author/outlet names uniquely identify real vs fake source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105656"/>
            <a:ext cx="4206240" cy="43891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274320" y="4105656"/>
            <a:ext cx="54864" cy="43891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02336" y="4142232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tokens (https, pic, flickr)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920240" y="415137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scraping artifacts in fake articles — not natural language signal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617720" y="4105656"/>
            <a:ext cx="4206240" cy="43891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4617720" y="4105656"/>
            <a:ext cx="54864" cy="43891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745736" y="4142232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21wire, govtslaves domains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263640" y="415137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fake-news domain tokens that identify source not style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74320" y="4864608"/>
            <a:ext cx="86136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0 articles contain 'reuters' after decontamination  ·  Models must learn linguistic patterns, not source identity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 — Model Selection &amp; Design Choices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207008"/>
            <a:ext cx="4224528" cy="141732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6032" y="1207008"/>
            <a:ext cx="4224528" cy="329184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47472" y="12618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261872"/>
            <a:ext cx="3035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063240" y="126187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0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A, B, C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65760" y="1591056"/>
            <a:ext cx="4005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a straight-line decision boundary — each coefficient maps directly to a word/phrase. Most interpretable text classifier. L2 (Ridge): shrinks all coefficients, keeps all features active, stable with correlated terms. L1 (Lasso): drives unimportant features to zero — automatic vocabulary selection. Elastic Net: blend of L1+L2 for correlated TF-IDF features.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3440" y="1207008"/>
            <a:ext cx="4224528" cy="141732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207008"/>
            <a:ext cx="4224528" cy="329184"/>
          </a:xfrm>
          <a:prstGeom prst="rect">
            <a:avLst/>
          </a:prstGeom>
          <a:solidFill>
            <a:srgbClr val="A0782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12618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13248" y="1261872"/>
            <a:ext cx="3035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Naïve Bayes (Multinomial + Complement)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70648" y="126187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0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73168" y="1591056"/>
            <a:ext cx="4005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word independence given class — wrong in practice, but effective for text. MultinomialNB requires non-negative inputs (MinMaxScaler applied to 10,000-feature subset). ComplementNB models the opposite class for each prediction, which often outperforms standard MNB on near-balanced datasets like ISOT.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2715768"/>
            <a:ext cx="4224528" cy="141732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56032" y="2715768"/>
            <a:ext cx="4224528" cy="329184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7472" y="27706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770632"/>
            <a:ext cx="3035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SVM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063240" y="277063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0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65760" y="3099816"/>
            <a:ext cx="4005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decision boundary maximising the margin between nearest fake/real articles. Maximum-margin property often gives better generalisation than LR. Linear kernel is best for high-dim TF-IDF — data is likely already linearly separable. Platt scaling (CalibratedClassifierCV) converts hard predictions to probabilities for ROC-AUC.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2715768"/>
            <a:ext cx="4224528" cy="141732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663440" y="2715768"/>
            <a:ext cx="4224528" cy="329184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54880" y="27706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13248" y="2770632"/>
            <a:ext cx="30358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470648" y="277063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0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B-LSA, C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773168" y="3099816"/>
            <a:ext cx="400507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many decision trees on random data/feature subsets; majority vote for final prediction. Too slow on 50,000 TF-IDF features — run on LSA-reduced Track B (300 features) and Track C (14 features). Track C comparison is most informative: can non-linear style patterns beat linear LR on interpretable features?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56032" y="4224528"/>
            <a:ext cx="8631936" cy="73152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56032" y="4224528"/>
            <a:ext cx="8631936" cy="329184"/>
          </a:xfrm>
          <a:prstGeom prst="rect">
            <a:avLst/>
          </a:prstGeom>
          <a:solidFill>
            <a:srgbClr val="5B2333"/>
          </a:solidFill>
          <a:ln w="12700">
            <a:solidFill>
              <a:srgbClr val="5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47472" y="42793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" y="4279392"/>
            <a:ext cx="7443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470648" y="4279392"/>
            <a:ext cx="1325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0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B-LSA, 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65760" y="4608576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 growing trees leaf-by-leaf rather than level-by-level — faster and more accurate than XGBoost on many tasks. At each step, focuses on training examples with the biggest current errors. 300 estimators, learning rate 0.05. Applied to LSA-reduced Track B and Track C style features.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 — Model Results Summary (5-Fold CV)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161288"/>
            <a:ext cx="1508760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10896" y="1216152"/>
            <a:ext cx="1399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764792" y="1161288"/>
            <a:ext cx="1188720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19656" y="1216152"/>
            <a:ext cx="1078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53512" y="1161288"/>
            <a:ext cx="822960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008376" y="121615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776472" y="1161288"/>
            <a:ext cx="841248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831336" y="121615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1161288"/>
            <a:ext cx="960120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72584" y="1216152"/>
            <a:ext cx="8503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161288"/>
            <a:ext cx="841248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32704" y="121615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19088" y="1161288"/>
            <a:ext cx="987552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73952" y="1216152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Gap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56032" y="1545336"/>
            <a:ext cx="1508760" cy="301752"/>
          </a:xfrm>
          <a:prstGeom prst="rect">
            <a:avLst/>
          </a:prstGeom>
          <a:solidFill>
            <a:srgbClr val="FFF0EE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1752" y="160020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LR-L2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764792" y="1545336"/>
            <a:ext cx="1188720" cy="301752"/>
          </a:xfrm>
          <a:prstGeom prst="rect">
            <a:avLst/>
          </a:prstGeom>
          <a:solidFill>
            <a:srgbClr val="FFF0EE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810512" y="160020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(Leaky)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953512" y="1545336"/>
            <a:ext cx="822960" cy="301752"/>
          </a:xfrm>
          <a:prstGeom prst="rect">
            <a:avLst/>
          </a:prstGeom>
          <a:solidFill>
            <a:srgbClr val="FFF0EE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999232" y="160020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76472" y="1545336"/>
            <a:ext cx="841248" cy="301752"/>
          </a:xfrm>
          <a:prstGeom prst="rect">
            <a:avLst/>
          </a:prstGeom>
          <a:solidFill>
            <a:srgbClr val="FFF0EE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22192" y="160020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17720" y="1545336"/>
            <a:ext cx="960120" cy="301752"/>
          </a:xfrm>
          <a:prstGeom prst="rect">
            <a:avLst/>
          </a:prstGeom>
          <a:solidFill>
            <a:srgbClr val="FFF0EE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63440" y="16002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0.9903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577840" y="1545336"/>
            <a:ext cx="841248" cy="301752"/>
          </a:xfrm>
          <a:prstGeom prst="rect">
            <a:avLst/>
          </a:prstGeom>
          <a:solidFill>
            <a:srgbClr val="FFF0EE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623560" y="160020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0.9929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19088" y="1545336"/>
            <a:ext cx="987552" cy="301752"/>
          </a:xfrm>
          <a:prstGeom prst="rect">
            <a:avLst/>
          </a:prstGeom>
          <a:solidFill>
            <a:srgbClr val="FFF0EE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64808" y="160020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56032" y="1865376"/>
            <a:ext cx="150876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01752" y="192024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LR-L2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764792" y="1865376"/>
            <a:ext cx="118872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810512" y="192024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(Clean)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53512" y="1865376"/>
            <a:ext cx="82296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999232" y="192024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76472" y="1865376"/>
            <a:ext cx="841248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822192" y="192024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17720" y="1865376"/>
            <a:ext cx="96012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63440" y="192024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0.9878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577840" y="1865376"/>
            <a:ext cx="841248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623560" y="192024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0.9904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419088" y="1865376"/>
            <a:ext cx="987552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464808" y="192024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0.0052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56032" y="2185416"/>
            <a:ext cx="150876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01752" y="224028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LR-L2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764792" y="2185416"/>
            <a:ext cx="118872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810512" y="22402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(Style)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953512" y="2185416"/>
            <a:ext cx="82296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999232" y="22402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0.8778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76472" y="2185416"/>
            <a:ext cx="841248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822192" y="224028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0.9396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617720" y="2185416"/>
            <a:ext cx="96012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663440" y="224028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0.8513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577840" y="2185416"/>
            <a:ext cx="841248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5623560" y="224028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0.9059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419088" y="2185416"/>
            <a:ext cx="987552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464808" y="224028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6032" y="2505456"/>
            <a:ext cx="150876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01752" y="256032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Multinomial NB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1764792" y="2505456"/>
            <a:ext cx="118872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1810512" y="25603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(Clean)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2953512" y="2505456"/>
            <a:ext cx="82296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2999232" y="25603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0.9575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776472" y="2505456"/>
            <a:ext cx="841248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3822192" y="256032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617720" y="2505456"/>
            <a:ext cx="96012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4663440" y="25603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0.9571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5577840" y="2505456"/>
            <a:ext cx="841248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5623560" y="256032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0.9579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419088" y="2505456"/>
            <a:ext cx="987552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6464808" y="256032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0.0042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256032" y="2825496"/>
            <a:ext cx="150876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301752" y="288036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 NB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764792" y="2825496"/>
            <a:ext cx="118872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1810512" y="288036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(Clean)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2953512" y="2825496"/>
            <a:ext cx="82296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2999232" y="288036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0.9572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3776472" y="2825496"/>
            <a:ext cx="841248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3822192" y="288036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0.9910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4617720" y="2825496"/>
            <a:ext cx="96012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4663440" y="288036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0.9552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5577840" y="2825496"/>
            <a:ext cx="841248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5623560" y="288036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0.9592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6419088" y="2825496"/>
            <a:ext cx="987552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6464808" y="288036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0.0046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56032" y="3145536"/>
            <a:ext cx="1508760" cy="301752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301752" y="320040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(Linear)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1764792" y="3145536"/>
            <a:ext cx="1188720" cy="301752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1810512" y="320040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(Clean)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2953512" y="3145536"/>
            <a:ext cx="822960" cy="301752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2999232" y="320040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0.9953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3776472" y="3145536"/>
            <a:ext cx="841248" cy="301752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3822192" y="320040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0.9997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4617720" y="3145536"/>
            <a:ext cx="960120" cy="301752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4663440" y="32004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0.9956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5577840" y="3145536"/>
            <a:ext cx="841248" cy="301752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5623560" y="320040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0.9950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419088" y="3145536"/>
            <a:ext cx="987552" cy="301752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6464808" y="320040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0.0047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256032" y="3465576"/>
            <a:ext cx="150876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301752" y="352044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764792" y="3465576"/>
            <a:ext cx="118872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1810512" y="352044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(Style)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2953512" y="3465576"/>
            <a:ext cx="82296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>
            <a:off x="2999232" y="352044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0.9198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776472" y="3465576"/>
            <a:ext cx="841248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3822192" y="352044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0.9755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4617720" y="3465576"/>
            <a:ext cx="96012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4663440" y="352044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0.9119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5577840" y="3465576"/>
            <a:ext cx="841248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5623560" y="352044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0.9279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6419088" y="3465576"/>
            <a:ext cx="987552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6464808" y="352044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0.0587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256032" y="3785616"/>
            <a:ext cx="150876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301752" y="384048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1764792" y="3785616"/>
            <a:ext cx="118872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Text 117"/>
          <p:cNvSpPr/>
          <p:nvPr/>
        </p:nvSpPr>
        <p:spPr>
          <a:xfrm>
            <a:off x="1810512" y="384048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B-LSA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2953512" y="3785616"/>
            <a:ext cx="82296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2999232" y="384048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0.9719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3776472" y="3785616"/>
            <a:ext cx="841248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ext 121"/>
          <p:cNvSpPr/>
          <p:nvPr/>
        </p:nvSpPr>
        <p:spPr>
          <a:xfrm>
            <a:off x="3822192" y="384048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0.9962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4617720" y="3785616"/>
            <a:ext cx="96012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4663440" y="384048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0.9730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5577840" y="3785616"/>
            <a:ext cx="841248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 125"/>
          <p:cNvSpPr/>
          <p:nvPr/>
        </p:nvSpPr>
        <p:spPr>
          <a:xfrm>
            <a:off x="5623560" y="384048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0.9709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6419088" y="3785616"/>
            <a:ext cx="987552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Text 127"/>
          <p:cNvSpPr/>
          <p:nvPr/>
        </p:nvSpPr>
        <p:spPr>
          <a:xfrm>
            <a:off x="6464808" y="384048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0.0275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256032" y="4105656"/>
            <a:ext cx="150876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Text 129"/>
          <p:cNvSpPr/>
          <p:nvPr/>
        </p:nvSpPr>
        <p:spPr>
          <a:xfrm>
            <a:off x="301752" y="416052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764792" y="4105656"/>
            <a:ext cx="118872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Text 131"/>
          <p:cNvSpPr/>
          <p:nvPr/>
        </p:nvSpPr>
        <p:spPr>
          <a:xfrm>
            <a:off x="1810512" y="41605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(Style)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953512" y="4105656"/>
            <a:ext cx="82296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/>
          <p:nvPr/>
        </p:nvSpPr>
        <p:spPr>
          <a:xfrm>
            <a:off x="2999232" y="416052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0.9219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3776472" y="4105656"/>
            <a:ext cx="841248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Text 135"/>
          <p:cNvSpPr/>
          <p:nvPr/>
        </p:nvSpPr>
        <p:spPr>
          <a:xfrm>
            <a:off x="3822192" y="416052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0.9774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4617720" y="4105656"/>
            <a:ext cx="96012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Text 137"/>
          <p:cNvSpPr/>
          <p:nvPr/>
        </p:nvSpPr>
        <p:spPr>
          <a:xfrm>
            <a:off x="4663440" y="416052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0.9051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577840" y="4105656"/>
            <a:ext cx="841248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 139"/>
          <p:cNvSpPr/>
          <p:nvPr/>
        </p:nvSpPr>
        <p:spPr>
          <a:xfrm>
            <a:off x="5623560" y="416052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0.9393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6419088" y="4105656"/>
            <a:ext cx="987552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Text 141"/>
          <p:cNvSpPr/>
          <p:nvPr/>
        </p:nvSpPr>
        <p:spPr>
          <a:xfrm>
            <a:off x="6464808" y="416052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0.0202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256032" y="4425696"/>
            <a:ext cx="150876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 143"/>
          <p:cNvSpPr/>
          <p:nvPr/>
        </p:nvSpPr>
        <p:spPr>
          <a:xfrm>
            <a:off x="301752" y="448056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1764792" y="4425696"/>
            <a:ext cx="118872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Text 145"/>
          <p:cNvSpPr/>
          <p:nvPr/>
        </p:nvSpPr>
        <p:spPr>
          <a:xfrm>
            <a:off x="1810512" y="448056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B-LSA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2953512" y="4425696"/>
            <a:ext cx="82296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Text 147"/>
          <p:cNvSpPr/>
          <p:nvPr/>
        </p:nvSpPr>
        <p:spPr>
          <a:xfrm>
            <a:off x="2999232" y="448056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0.9868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3776472" y="4425696"/>
            <a:ext cx="841248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149"/>
          <p:cNvSpPr/>
          <p:nvPr/>
        </p:nvSpPr>
        <p:spPr>
          <a:xfrm>
            <a:off x="3822192" y="448056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0.9989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4617720" y="4425696"/>
            <a:ext cx="960120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Text 151"/>
          <p:cNvSpPr/>
          <p:nvPr/>
        </p:nvSpPr>
        <p:spPr>
          <a:xfrm>
            <a:off x="4663440" y="448056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0.9885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5577840" y="4425696"/>
            <a:ext cx="841248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Text 153"/>
          <p:cNvSpPr/>
          <p:nvPr/>
        </p:nvSpPr>
        <p:spPr>
          <a:xfrm>
            <a:off x="5623560" y="448056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0.9851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419088" y="4425696"/>
            <a:ext cx="987552" cy="301752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Text 155"/>
          <p:cNvSpPr/>
          <p:nvPr/>
        </p:nvSpPr>
        <p:spPr>
          <a:xfrm>
            <a:off x="6464808" y="448056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0.0132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256032" y="4745736"/>
            <a:ext cx="150876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Text 157"/>
          <p:cNvSpPr/>
          <p:nvPr/>
        </p:nvSpPr>
        <p:spPr>
          <a:xfrm>
            <a:off x="301752" y="4800600"/>
            <a:ext cx="1417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1764792" y="4745736"/>
            <a:ext cx="118872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Text 159"/>
          <p:cNvSpPr/>
          <p:nvPr/>
        </p:nvSpPr>
        <p:spPr>
          <a:xfrm>
            <a:off x="1810512" y="480060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(Style)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2953512" y="4745736"/>
            <a:ext cx="82296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Text 161"/>
          <p:cNvSpPr/>
          <p:nvPr/>
        </p:nvSpPr>
        <p:spPr>
          <a:xfrm>
            <a:off x="2999232" y="4800600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0.9266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3776472" y="4745736"/>
            <a:ext cx="841248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Text 163"/>
          <p:cNvSpPr/>
          <p:nvPr/>
        </p:nvSpPr>
        <p:spPr>
          <a:xfrm>
            <a:off x="3822192" y="480060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0.9796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4617720" y="4745736"/>
            <a:ext cx="960120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Text 165"/>
          <p:cNvSpPr/>
          <p:nvPr/>
        </p:nvSpPr>
        <p:spPr>
          <a:xfrm>
            <a:off x="4663440" y="4800600"/>
            <a:ext cx="868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0.9121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5577840" y="4745736"/>
            <a:ext cx="841248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Text 167"/>
          <p:cNvSpPr/>
          <p:nvPr/>
        </p:nvSpPr>
        <p:spPr>
          <a:xfrm>
            <a:off x="5623560" y="4800600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0.9417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6419088" y="4745736"/>
            <a:ext cx="987552" cy="3017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Text 169"/>
          <p:cNvSpPr/>
          <p:nvPr/>
        </p:nvSpPr>
        <p:spPr>
          <a:xfrm>
            <a:off x="6464808" y="4800600"/>
            <a:ext cx="896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0.0345</a:t>
            </a:r>
            <a:endParaRPr lang="en-US" sz="1000" dirty="0"/>
          </a:p>
        </p:txBody>
      </p:sp>
      <p:sp>
        <p:nvSpPr>
          <p:cNvPr id="172" name="Text 170"/>
          <p:cNvSpPr/>
          <p:nvPr/>
        </p:nvSpPr>
        <p:spPr>
          <a:xfrm>
            <a:off x="256032" y="4956048"/>
            <a:ext cx="8613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Best clean model: SVM on Track B (F1 = 0.9953, AUC = 0.9997)  ·  Track A inflated by source fingerprints  ·  Track C is most interpretable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4 — F1 Score Comparison Across Models &amp; Tracks</a:t>
            </a:r>
            <a:endParaRPr lang="en-US" sz="2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56032" y="1161288"/>
          <a:ext cx="8631936" cy="37764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5 — Step 5.1: Why Accuracy Alone Is Not Enough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207008"/>
            <a:ext cx="8631936" cy="566928"/>
          </a:xfrm>
          <a:prstGeom prst="rect">
            <a:avLst/>
          </a:prstGeom>
          <a:solidFill>
            <a:srgbClr val="FFF5D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6032" y="1207008"/>
            <a:ext cx="64008" cy="566928"/>
          </a:xfrm>
          <a:prstGeom prst="rect">
            <a:avLst/>
          </a:prstGeom>
          <a:solidFill>
            <a:srgbClr val="A0782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84048" y="126187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counts the fraction of correct predictions. On near-balanced data it is a reasonable starting point, but it treats all errors as equally bad — and in fake news detection, these two errors have very different real-world consequences.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" y="1901952"/>
            <a:ext cx="4242816" cy="102412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56032" y="1901952"/>
            <a:ext cx="4242816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47472" y="193852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— Real flagged as Fake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5760" y="2304288"/>
            <a:ext cx="40416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journalism suppressed. Real reporting from minor or non-Reuters outlets may match fake-news surface patterns. Risk: censorship of minority perspectives or unusual-format real news.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81728" y="1901952"/>
            <a:ext cx="4242816" cy="102412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81728" y="1901952"/>
            <a:ext cx="4242816" cy="347472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73168" y="193852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248656" y="1938528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 — Fake slips through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91456" y="2304288"/>
            <a:ext cx="40416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Misinformation reaches the audience unchecked. Professionally-written fake content mimicking real journalistic structure is most dangerous. Risk: public harm from unchecked disinformation.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6032" y="3035808"/>
            <a:ext cx="8631936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9184" y="3063240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92224" y="3063240"/>
            <a:ext cx="2852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Measures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18304" y="3063240"/>
            <a:ext cx="41696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News Interpretation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" y="3401568"/>
            <a:ext cx="1463040" cy="31089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9184" y="3456432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719072" y="3401568"/>
            <a:ext cx="2926080" cy="31089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792224" y="3456432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articles flagged as fake, what fraction truly are fake?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45152" y="3401568"/>
            <a:ext cx="4242816" cy="31089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18304" y="3456432"/>
            <a:ext cx="41330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false accusations against real journalism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6032" y="3730752"/>
            <a:ext cx="1463040" cy="310896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29184" y="3785616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719072" y="3730752"/>
            <a:ext cx="2926080" cy="310896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792224" y="3785616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actual fake articles, what fraction did the model catch?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45152" y="3730752"/>
            <a:ext cx="4242816" cy="310896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18304" y="3785616"/>
            <a:ext cx="41330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how many fake articles slip through undetected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6032" y="4059936"/>
            <a:ext cx="1463040" cy="31089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29184" y="41148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719072" y="4059936"/>
            <a:ext cx="2926080" cy="31089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792224" y="4114800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of Precision and Recall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45152" y="4059936"/>
            <a:ext cx="4242816" cy="31089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718304" y="4114800"/>
            <a:ext cx="41330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single-number comparison metric across models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56032" y="4389120"/>
            <a:ext cx="1463040" cy="310896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9184" y="4443984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719072" y="4389120"/>
            <a:ext cx="2926080" cy="310896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1792224" y="4443984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 model ranks a random fake above a random real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645152" y="4389120"/>
            <a:ext cx="4242816" cy="310896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718304" y="4443984"/>
            <a:ext cx="41330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quality — threshold-independent comparison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56032" y="4718304"/>
            <a:ext cx="1463040" cy="31089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29184" y="4773168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719072" y="4718304"/>
            <a:ext cx="2926080" cy="31089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792224" y="4773168"/>
            <a:ext cx="2816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under Precision-Recall curve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645152" y="4718304"/>
            <a:ext cx="4242816" cy="31089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718304" y="4773168"/>
            <a:ext cx="41330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informative than ROC when classes are slightly imbalanced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5 — Step 5.2: Final Hold-Out Evaluation (20% Test Set)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207008"/>
            <a:ext cx="4224528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234440"/>
            <a:ext cx="4041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LR-L2  ·  Track B (Decontaminated)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" y="1572768"/>
            <a:ext cx="1188720" cy="274320"/>
          </a:xfrm>
          <a:prstGeom prst="rect">
            <a:avLst/>
          </a:prstGeom>
          <a:solidFill>
            <a:srgbClr val="8B1A1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92608" y="1591056"/>
            <a:ext cx="1133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444752" y="1572768"/>
            <a:ext cx="749808" cy="274320"/>
          </a:xfrm>
          <a:prstGeom prst="rect">
            <a:avLst/>
          </a:prstGeom>
          <a:solidFill>
            <a:srgbClr val="8B1A1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81328" y="1591056"/>
            <a:ext cx="6949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94560" y="1572768"/>
            <a:ext cx="658368" cy="274320"/>
          </a:xfrm>
          <a:prstGeom prst="rect">
            <a:avLst/>
          </a:prstGeom>
          <a:solidFill>
            <a:srgbClr val="8B1A1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31136" y="1591056"/>
            <a:ext cx="6035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52928" y="1572768"/>
            <a:ext cx="566928" cy="274320"/>
          </a:xfrm>
          <a:prstGeom prst="rect">
            <a:avLst/>
          </a:prstGeom>
          <a:solidFill>
            <a:srgbClr val="8B1A1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889504" y="1591056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19856" y="1572768"/>
            <a:ext cx="1042416" cy="274320"/>
          </a:xfrm>
          <a:prstGeom prst="rect">
            <a:avLst/>
          </a:prstGeom>
          <a:solidFill>
            <a:srgbClr val="8B1A1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56432" y="1591056"/>
            <a:ext cx="987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56032" y="1865376"/>
            <a:ext cx="1188720" cy="274320"/>
          </a:xfrm>
          <a:prstGeom prst="rect">
            <a:avLst/>
          </a:prstGeom>
          <a:solidFill>
            <a:srgbClr val="FEF2F2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92608" y="1911096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44752" y="1865376"/>
            <a:ext cx="749808" cy="274320"/>
          </a:xfrm>
          <a:prstGeom prst="rect">
            <a:avLst/>
          </a:prstGeom>
          <a:solidFill>
            <a:srgbClr val="FEF2F2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481328" y="1911096"/>
            <a:ext cx="694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94560" y="1865376"/>
            <a:ext cx="658368" cy="274320"/>
          </a:xfrm>
          <a:prstGeom prst="rect">
            <a:avLst/>
          </a:prstGeom>
          <a:solidFill>
            <a:srgbClr val="FEF2F2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31136" y="191109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852928" y="1865376"/>
            <a:ext cx="566928" cy="274320"/>
          </a:xfrm>
          <a:prstGeom prst="rect">
            <a:avLst/>
          </a:prstGeom>
          <a:solidFill>
            <a:srgbClr val="FEF2F2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889504" y="1911096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19856" y="1865376"/>
            <a:ext cx="1042416" cy="274320"/>
          </a:xfrm>
          <a:prstGeom prst="rect">
            <a:avLst/>
          </a:prstGeom>
          <a:solidFill>
            <a:srgbClr val="FEF2F2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456432" y="1911096"/>
            <a:ext cx="987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4,696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" y="2157984"/>
            <a:ext cx="1188720" cy="274320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92608" y="2203704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444752" y="2157984"/>
            <a:ext cx="749808" cy="274320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481328" y="2203704"/>
            <a:ext cx="694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194560" y="2157984"/>
            <a:ext cx="658368" cy="274320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231136" y="220370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852928" y="2157984"/>
            <a:ext cx="566928" cy="274320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2889504" y="2203704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19856" y="2157984"/>
            <a:ext cx="1042416" cy="274320"/>
          </a:xfrm>
          <a:prstGeom prst="rect">
            <a:avLst/>
          </a:prstGeom>
          <a:solidFill>
            <a:srgbClr val="F0FA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456432" y="2203704"/>
            <a:ext cx="987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4,284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56032" y="2450592"/>
            <a:ext cx="1188720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92608" y="2496312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avg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44752" y="2450592"/>
            <a:ext cx="74980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481328" y="2496312"/>
            <a:ext cx="694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194560" y="2450592"/>
            <a:ext cx="65836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2231136" y="249631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852928" y="2450592"/>
            <a:ext cx="56692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889504" y="2496312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419856" y="2450592"/>
            <a:ext cx="1042416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456432" y="2496312"/>
            <a:ext cx="987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8,980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56032" y="2743200"/>
            <a:ext cx="1188720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292608" y="2788920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avg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1444752" y="2743200"/>
            <a:ext cx="74980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481328" y="2788920"/>
            <a:ext cx="694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194560" y="2743200"/>
            <a:ext cx="65836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231136" y="2788920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852928" y="2743200"/>
            <a:ext cx="56692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2889504" y="2788920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419856" y="2743200"/>
            <a:ext cx="1042416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456432" y="2788920"/>
            <a:ext cx="987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8,980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256032" y="3072384"/>
            <a:ext cx="42245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256032" y="3319272"/>
            <a:ext cx="1389888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292608" y="3392424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1664208" y="3319272"/>
            <a:ext cx="1389888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1700784" y="3392424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 Fake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072384" y="3319272"/>
            <a:ext cx="1389888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3108960" y="3392424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 Real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256032" y="3703320"/>
            <a:ext cx="1389888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292608" y="377647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Fake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664208" y="3703320"/>
            <a:ext cx="1389888" cy="365760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1700784" y="377647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4,634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3072384" y="3703320"/>
            <a:ext cx="1389888" cy="365760"/>
          </a:xfrm>
          <a:prstGeom prst="rect">
            <a:avLst/>
          </a:prstGeom>
          <a:solidFill>
            <a:srgbClr val="FEF2F2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3108960" y="377647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56032" y="4087368"/>
            <a:ext cx="1389888" cy="365760"/>
          </a:xfrm>
          <a:prstGeom prst="rect">
            <a:avLst/>
          </a:prstGeom>
          <a:solidFill>
            <a:srgbClr val="6B0000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292608" y="4160520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1664208" y="4087368"/>
            <a:ext cx="1389888" cy="365760"/>
          </a:xfrm>
          <a:prstGeom prst="rect">
            <a:avLst/>
          </a:prstGeom>
          <a:solidFill>
            <a:srgbClr val="FEF2F2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1700784" y="4160520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3072384" y="4087368"/>
            <a:ext cx="1389888" cy="365760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3108960" y="4160520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4,245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256032" y="4480560"/>
            <a:ext cx="4224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0.9992  ·  PR-AUC: 0.9991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4663440" y="1207008"/>
            <a:ext cx="4224528" cy="347472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754880" y="1234440"/>
            <a:ext cx="4041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(Linear)  ·  Track B (Decontaminated)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4663440" y="1572768"/>
            <a:ext cx="1188720" cy="274320"/>
          </a:xfrm>
          <a:prstGeom prst="rect">
            <a:avLst/>
          </a:prstGeom>
          <a:solidFill>
            <a:srgbClr val="1F5C5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700016" y="1591056"/>
            <a:ext cx="1133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852160" y="1572768"/>
            <a:ext cx="749808" cy="274320"/>
          </a:xfrm>
          <a:prstGeom prst="rect">
            <a:avLst/>
          </a:prstGeom>
          <a:solidFill>
            <a:srgbClr val="1F5C5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5888736" y="1591056"/>
            <a:ext cx="6949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6601968" y="1572768"/>
            <a:ext cx="658368" cy="274320"/>
          </a:xfrm>
          <a:prstGeom prst="rect">
            <a:avLst/>
          </a:prstGeom>
          <a:solidFill>
            <a:srgbClr val="1F5C5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6638544" y="1591056"/>
            <a:ext cx="6035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7260336" y="1572768"/>
            <a:ext cx="566928" cy="274320"/>
          </a:xfrm>
          <a:prstGeom prst="rect">
            <a:avLst/>
          </a:prstGeom>
          <a:solidFill>
            <a:srgbClr val="1F5C5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7296912" y="1591056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7827264" y="1572768"/>
            <a:ext cx="1042416" cy="274320"/>
          </a:xfrm>
          <a:prstGeom prst="rect">
            <a:avLst/>
          </a:prstGeom>
          <a:solidFill>
            <a:srgbClr val="1F5C5C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7863840" y="1591056"/>
            <a:ext cx="987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4663440" y="1865376"/>
            <a:ext cx="1188720" cy="274320"/>
          </a:xfrm>
          <a:prstGeom prst="rect">
            <a:avLst/>
          </a:prstGeom>
          <a:solidFill>
            <a:srgbClr val="F0FD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4700016" y="1911096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852160" y="1865376"/>
            <a:ext cx="749808" cy="274320"/>
          </a:xfrm>
          <a:prstGeom prst="rect">
            <a:avLst/>
          </a:prstGeom>
          <a:solidFill>
            <a:srgbClr val="F0FD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5888736" y="1911096"/>
            <a:ext cx="694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6601968" y="1865376"/>
            <a:ext cx="658368" cy="274320"/>
          </a:xfrm>
          <a:prstGeom prst="rect">
            <a:avLst/>
          </a:prstGeom>
          <a:solidFill>
            <a:srgbClr val="F0FD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6638544" y="1911096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260336" y="1865376"/>
            <a:ext cx="566928" cy="274320"/>
          </a:xfrm>
          <a:prstGeom prst="rect">
            <a:avLst/>
          </a:prstGeom>
          <a:solidFill>
            <a:srgbClr val="F0FD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7296912" y="1911096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827264" y="1865376"/>
            <a:ext cx="1042416" cy="274320"/>
          </a:xfrm>
          <a:prstGeom prst="rect">
            <a:avLst/>
          </a:prstGeom>
          <a:solidFill>
            <a:srgbClr val="F0FD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7863840" y="1911096"/>
            <a:ext cx="987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4,696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4663440" y="2157984"/>
            <a:ext cx="1188720" cy="274320"/>
          </a:xfrm>
          <a:prstGeom prst="rect">
            <a:avLst/>
          </a:prstGeom>
          <a:solidFill>
            <a:srgbClr val="F0FD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4700016" y="2203704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5852160" y="2157984"/>
            <a:ext cx="749808" cy="274320"/>
          </a:xfrm>
          <a:prstGeom prst="rect">
            <a:avLst/>
          </a:prstGeom>
          <a:solidFill>
            <a:srgbClr val="F0FD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5888736" y="2203704"/>
            <a:ext cx="694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6601968" y="2157984"/>
            <a:ext cx="658368" cy="274320"/>
          </a:xfrm>
          <a:prstGeom prst="rect">
            <a:avLst/>
          </a:prstGeom>
          <a:solidFill>
            <a:srgbClr val="F0FD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6638544" y="2203704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260336" y="2157984"/>
            <a:ext cx="566928" cy="274320"/>
          </a:xfrm>
          <a:prstGeom prst="rect">
            <a:avLst/>
          </a:prstGeom>
          <a:solidFill>
            <a:srgbClr val="F0FD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7296912" y="2203704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7827264" y="2157984"/>
            <a:ext cx="1042416" cy="274320"/>
          </a:xfrm>
          <a:prstGeom prst="rect">
            <a:avLst/>
          </a:prstGeom>
          <a:solidFill>
            <a:srgbClr val="F0FDF4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>
            <a:off x="7863840" y="2203704"/>
            <a:ext cx="987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4,284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4663440" y="2450592"/>
            <a:ext cx="1188720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4700016" y="2496312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avg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5852160" y="2450592"/>
            <a:ext cx="74980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5888736" y="2496312"/>
            <a:ext cx="694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6601968" y="2450592"/>
            <a:ext cx="65836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6638544" y="2496312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7260336" y="2450592"/>
            <a:ext cx="56692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7296912" y="2496312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7827264" y="2450592"/>
            <a:ext cx="1042416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7863840" y="2496312"/>
            <a:ext cx="987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8,980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4663440" y="2743200"/>
            <a:ext cx="1188720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Text 117"/>
          <p:cNvSpPr/>
          <p:nvPr/>
        </p:nvSpPr>
        <p:spPr>
          <a:xfrm>
            <a:off x="4700016" y="2788920"/>
            <a:ext cx="1133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avg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5852160" y="2743200"/>
            <a:ext cx="74980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5888736" y="2788920"/>
            <a:ext cx="6949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6601968" y="2743200"/>
            <a:ext cx="65836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ext 121"/>
          <p:cNvSpPr/>
          <p:nvPr/>
        </p:nvSpPr>
        <p:spPr>
          <a:xfrm>
            <a:off x="6638544" y="2788920"/>
            <a:ext cx="6035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7260336" y="2743200"/>
            <a:ext cx="566928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7296912" y="2788920"/>
            <a:ext cx="5120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7827264" y="2743200"/>
            <a:ext cx="1042416" cy="27432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 125"/>
          <p:cNvSpPr/>
          <p:nvPr/>
        </p:nvSpPr>
        <p:spPr>
          <a:xfrm>
            <a:off x="7863840" y="2788920"/>
            <a:ext cx="9875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8,980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4663440" y="3072384"/>
            <a:ext cx="42245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4663440" y="3319272"/>
            <a:ext cx="1389888" cy="365760"/>
          </a:xfrm>
          <a:prstGeom prst="rect">
            <a:avLst/>
          </a:prstGeom>
          <a:solidFill>
            <a:srgbClr val="1F5C5C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128"/>
          <p:cNvSpPr/>
          <p:nvPr/>
        </p:nvSpPr>
        <p:spPr>
          <a:xfrm>
            <a:off x="4700016" y="3392424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6071616" y="3319272"/>
            <a:ext cx="1389888" cy="365760"/>
          </a:xfrm>
          <a:prstGeom prst="rect">
            <a:avLst/>
          </a:prstGeom>
          <a:solidFill>
            <a:srgbClr val="1F5C5C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 130"/>
          <p:cNvSpPr/>
          <p:nvPr/>
        </p:nvSpPr>
        <p:spPr>
          <a:xfrm>
            <a:off x="6108192" y="3392424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 Fake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7479792" y="3319272"/>
            <a:ext cx="1389888" cy="365760"/>
          </a:xfrm>
          <a:prstGeom prst="rect">
            <a:avLst/>
          </a:prstGeom>
          <a:solidFill>
            <a:srgbClr val="1F5C5C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 132"/>
          <p:cNvSpPr/>
          <p:nvPr/>
        </p:nvSpPr>
        <p:spPr>
          <a:xfrm>
            <a:off x="7516368" y="3392424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 Real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4663440" y="3703320"/>
            <a:ext cx="1389888" cy="365760"/>
          </a:xfrm>
          <a:prstGeom prst="rect">
            <a:avLst/>
          </a:prstGeom>
          <a:solidFill>
            <a:srgbClr val="1F5C5C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134"/>
          <p:cNvSpPr/>
          <p:nvPr/>
        </p:nvSpPr>
        <p:spPr>
          <a:xfrm>
            <a:off x="4700016" y="377647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Fake</a:t>
            </a:r>
            <a:endParaRPr lang="en-US" sz="1100" dirty="0"/>
          </a:p>
        </p:txBody>
      </p:sp>
      <p:sp>
        <p:nvSpPr>
          <p:cNvPr id="137" name="Shape 135"/>
          <p:cNvSpPr/>
          <p:nvPr/>
        </p:nvSpPr>
        <p:spPr>
          <a:xfrm>
            <a:off x="6071616" y="3703320"/>
            <a:ext cx="1389888" cy="365760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 136"/>
          <p:cNvSpPr/>
          <p:nvPr/>
        </p:nvSpPr>
        <p:spPr>
          <a:xfrm>
            <a:off x="6108192" y="377647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4,680</a:t>
            </a:r>
            <a:endParaRPr lang="en-US" sz="1100" dirty="0"/>
          </a:p>
        </p:txBody>
      </p:sp>
      <p:sp>
        <p:nvSpPr>
          <p:cNvPr id="139" name="Shape 137"/>
          <p:cNvSpPr/>
          <p:nvPr/>
        </p:nvSpPr>
        <p:spPr>
          <a:xfrm>
            <a:off x="7479792" y="3703320"/>
            <a:ext cx="1389888" cy="365760"/>
          </a:xfrm>
          <a:prstGeom prst="rect">
            <a:avLst/>
          </a:prstGeom>
          <a:solidFill>
            <a:srgbClr val="FEF2F2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ext 138"/>
          <p:cNvSpPr/>
          <p:nvPr/>
        </p:nvSpPr>
        <p:spPr>
          <a:xfrm>
            <a:off x="7516368" y="377647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41" name="Shape 139"/>
          <p:cNvSpPr/>
          <p:nvPr/>
        </p:nvSpPr>
        <p:spPr>
          <a:xfrm>
            <a:off x="4663440" y="4087368"/>
            <a:ext cx="1389888" cy="365760"/>
          </a:xfrm>
          <a:prstGeom prst="rect">
            <a:avLst/>
          </a:prstGeom>
          <a:solidFill>
            <a:srgbClr val="1F5C5C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 140"/>
          <p:cNvSpPr/>
          <p:nvPr/>
        </p:nvSpPr>
        <p:spPr>
          <a:xfrm>
            <a:off x="4700016" y="4160520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</a:t>
            </a:r>
            <a:endParaRPr lang="en-US" sz="1100" dirty="0"/>
          </a:p>
        </p:txBody>
      </p:sp>
      <p:sp>
        <p:nvSpPr>
          <p:cNvPr id="143" name="Shape 141"/>
          <p:cNvSpPr/>
          <p:nvPr/>
        </p:nvSpPr>
        <p:spPr>
          <a:xfrm>
            <a:off x="6071616" y="4087368"/>
            <a:ext cx="1389888" cy="365760"/>
          </a:xfrm>
          <a:prstGeom prst="rect">
            <a:avLst/>
          </a:prstGeom>
          <a:solidFill>
            <a:srgbClr val="FEF2F2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Text 142"/>
          <p:cNvSpPr/>
          <p:nvPr/>
        </p:nvSpPr>
        <p:spPr>
          <a:xfrm>
            <a:off x="6108192" y="4160520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7479792" y="4087368"/>
            <a:ext cx="1389888" cy="365760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Text 144"/>
          <p:cNvSpPr/>
          <p:nvPr/>
        </p:nvSpPr>
        <p:spPr>
          <a:xfrm>
            <a:off x="7516368" y="4160520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4,259</a:t>
            </a:r>
            <a:endParaRPr lang="en-US" sz="1100" dirty="0"/>
          </a:p>
        </p:txBody>
      </p:sp>
      <p:sp>
        <p:nvSpPr>
          <p:cNvPr id="147" name="Text 145"/>
          <p:cNvSpPr/>
          <p:nvPr/>
        </p:nvSpPr>
        <p:spPr>
          <a:xfrm>
            <a:off x="4663440" y="4480560"/>
            <a:ext cx="42245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0.9998  ·  PR-AUC: 0.9998  ★ Best model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5 — Step 5.3–5.4: Statistical Test &amp; Calibration Curves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207008"/>
            <a:ext cx="4224528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234440"/>
            <a:ext cx="4041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 Test — LR-L2 vs SVM (Track B)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6032" y="1627632"/>
            <a:ext cx="42245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McNemar's test evaluates whether two classifiers make systematically different errors on the same test set — not just which has a higher F1, but whether the difference is statistically real.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6032" y="2212848"/>
            <a:ext cx="1389888" cy="384048"/>
          </a:xfrm>
          <a:prstGeom prst="rect">
            <a:avLst/>
          </a:prstGeom>
          <a:solidFill>
            <a:srgbClr val="6B0000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92608" y="2304288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64208" y="2212848"/>
            <a:ext cx="1389888" cy="384048"/>
          </a:xfrm>
          <a:prstGeom prst="rect">
            <a:avLst/>
          </a:prstGeom>
          <a:solidFill>
            <a:srgbClr val="6B0000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700784" y="2304288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Correct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072384" y="2212848"/>
            <a:ext cx="1389888" cy="384048"/>
          </a:xfrm>
          <a:prstGeom prst="rect">
            <a:avLst/>
          </a:prstGeom>
          <a:solidFill>
            <a:srgbClr val="6B0000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108960" y="2304288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Wrong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6032" y="2615184"/>
            <a:ext cx="1389888" cy="384048"/>
          </a:xfrm>
          <a:prstGeom prst="rect">
            <a:avLst/>
          </a:prstGeom>
          <a:solidFill>
            <a:srgbClr val="6B0000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2608" y="2706624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Correct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2615184"/>
            <a:ext cx="1389888" cy="384048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700784" y="2706624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8,877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72384" y="2615184"/>
            <a:ext cx="1389888" cy="384048"/>
          </a:xfrm>
          <a:prstGeom prst="rect">
            <a:avLst/>
          </a:prstGeom>
          <a:solidFill>
            <a:srgbClr val="FFF0EE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08960" y="2706624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6032" y="3017520"/>
            <a:ext cx="1389888" cy="384048"/>
          </a:xfrm>
          <a:prstGeom prst="rect">
            <a:avLst/>
          </a:prstGeom>
          <a:solidFill>
            <a:srgbClr val="6B0000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92608" y="3108960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Wrong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664208" y="3017520"/>
            <a:ext cx="1389888" cy="384048"/>
          </a:xfrm>
          <a:prstGeom prst="rect">
            <a:avLst/>
          </a:prstGeom>
          <a:solidFill>
            <a:srgbClr val="FFF0EE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700784" y="3108960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72384" y="3017520"/>
            <a:ext cx="1389888" cy="384048"/>
          </a:xfrm>
          <a:prstGeom prst="rect">
            <a:avLst/>
          </a:prstGeom>
          <a:solidFill>
            <a:srgbClr val="EAF5EA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108960" y="3108960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56032" y="3438144"/>
            <a:ext cx="4224528" cy="475488"/>
          </a:xfrm>
          <a:prstGeom prst="rect">
            <a:avLst/>
          </a:prstGeom>
          <a:solidFill>
            <a:srgbClr val="EAF5EA"/>
          </a:solidFill>
          <a:ln w="12700">
            <a:solidFill>
              <a:srgbClr val="217A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47472" y="3493008"/>
            <a:ext cx="4041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7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p-value: 2.26e-16  →  SIGNIFICANT (p &lt; 0.05)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56032" y="3968496"/>
            <a:ext cx="42245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makes systematically fewer errors than LR — the performance difference is genuine, not due to random chance in the test split.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6032" y="4443984"/>
            <a:ext cx="4224528" cy="4572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56032" y="4443984"/>
            <a:ext cx="64008" cy="45720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4048" y="4498848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(LR):  39 FP — real flagged as fake (short/unusual format)  ·  62 FN — formal-looking fake that slipped through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1207008"/>
            <a:ext cx="4224528" cy="347472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54880" y="1234440"/>
            <a:ext cx="4041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5.4 — Calibration Curves (Reliability Diagrams)</a:t>
            </a:r>
            <a:endParaRPr lang="en-US" sz="1100" dirty="0"/>
          </a:p>
        </p:txBody>
      </p:sp>
      <p:pic>
        <p:nvPicPr>
          <p:cNvPr id="3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572768"/>
            <a:ext cx="4224528" cy="2834640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4663440" y="4480560"/>
            <a:ext cx="4224528" cy="21945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4663440" y="4480560"/>
            <a:ext cx="54864" cy="219456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4754880" y="4517136"/>
            <a:ext cx="4041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LR-L2 (blue): Generally well-calibrated — predicted probabilities track observed frequencies closely.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0" y="4718304"/>
            <a:ext cx="4224528" cy="21945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4663440" y="4718304"/>
            <a:ext cx="5486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4754880" y="4754880"/>
            <a:ext cx="4041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SVM-Platt (orange): More erratic — Platt scaling partially corrects, but SVM probabilities are less reliable. Use LR when calibrated scores matter.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5 — Step 5.4: Error Analysis — LR-L2 (Track B)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207008"/>
            <a:ext cx="8631936" cy="420624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261872"/>
            <a:ext cx="8366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metrics tell us HOW OFTEN the model fails. Error analysis tells us WHY — enabling targeted improvements.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56032" y="1700784"/>
            <a:ext cx="4224528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47472" y="1728216"/>
            <a:ext cx="4041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 False Positives — Real Flagged as Fake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" y="2075688"/>
            <a:ext cx="4224528" cy="2286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10896" y="2112264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[politics]      FOX NEWS LEGAL ANALYST: Comey's Big Lie…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" y="2313432"/>
            <a:ext cx="4224528" cy="2286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10896" y="2350008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[worldnews]  Russia's Lavrov says hopes Syrian congress…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6032" y="2551176"/>
            <a:ext cx="4224528" cy="2286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10896" y="2587752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[News]           Someone Tried To Cash In On Antifa…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6032" y="2788920"/>
            <a:ext cx="4224528" cy="2286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10896" y="2825496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[worldnews]  Singapore man arrested for 'terrorism-related'…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6032" y="3026664"/>
            <a:ext cx="4224528" cy="2286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10896" y="3063240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[politicsNews] White House names Hicks interim comms dir.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56032" y="3264408"/>
            <a:ext cx="4224528" cy="2286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10896" y="3300984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[worldnews]  Malaysia's royals call for religious tolerance…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56032" y="3502152"/>
            <a:ext cx="4224528" cy="2286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10896" y="3538728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[worldnews]  Woman's murder prompts mass eviction of Syrians…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56032" y="3739896"/>
            <a:ext cx="4224528" cy="2286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10896" y="3776472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[News]           Martin O'Malley Suspends Campaign (TWEET)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56032" y="3986784"/>
            <a:ext cx="4224528" cy="347472"/>
          </a:xfrm>
          <a:prstGeom prst="rect">
            <a:avLst/>
          </a:prstGeom>
          <a:solidFill>
            <a:srgbClr val="FEF2F2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56032" y="3986784"/>
            <a:ext cx="54864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4032504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count: mean 378 · median 377 · min 23 · max 932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6032" y="4370832"/>
            <a:ext cx="4224528" cy="5303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56032" y="4370832"/>
            <a:ext cx="54864" cy="53035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4407408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Sensational headlines (ALL CAPS, brackets like [Video], [TWEET]) and non-Reuters worldnews articles — model biased against informal-headline real news.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63440" y="1700784"/>
            <a:ext cx="4224528" cy="347472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54880" y="1728216"/>
            <a:ext cx="4041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 False Negatives — Fake Slipped Through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663440" y="2075688"/>
            <a:ext cx="4224528" cy="2286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18304" y="2112264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[politicsNews] Hillary Clinton makes surprise appearance…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2313432"/>
            <a:ext cx="4224528" cy="2286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18304" y="2350008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[politics]      MEGHAN MCCAIN Cut-Off After Saying…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63440" y="2551176"/>
            <a:ext cx="4224528" cy="2286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18304" y="2587752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[politicsNews] Facebook's political influence under a microscope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663440" y="2788920"/>
            <a:ext cx="4224528" cy="2286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18304" y="2825496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[News]           George Clooney HAMMERS Trump For Insulting…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63440" y="3026664"/>
            <a:ext cx="4224528" cy="2286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18304" y="3063240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[News]           HEROIC Muslim Student Helps Track Down…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663440" y="3264408"/>
            <a:ext cx="4224528" cy="2286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18304" y="3300984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[left-news]    HILLARY APPEARS Wearing Anti-Seizure Sunglasses…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63440" y="3502152"/>
            <a:ext cx="4224528" cy="22860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18304" y="3538728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[politics]      DIAMOND and SILK Have Message For GOP…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663440" y="3739896"/>
            <a:ext cx="4224528" cy="228600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718304" y="3776472"/>
            <a:ext cx="4114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[News]           Trump Admin Deals STUNNING Threat To Alaska…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663440" y="3986784"/>
            <a:ext cx="4224528" cy="347472"/>
          </a:xfrm>
          <a:prstGeom prst="rect">
            <a:avLst/>
          </a:prstGeom>
          <a:solidFill>
            <a:srgbClr val="EEF2FF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663440" y="3986784"/>
            <a:ext cx="54864" cy="347472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773168" y="4032504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count: mean 417 · median 401 · min 0 · max 1,244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663440" y="4370832"/>
            <a:ext cx="4224528" cy="530352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663440" y="4370832"/>
            <a:ext cx="54864" cy="530352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773168" y="4407408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Fake articles with [politicsNews] / formal-looking subjects — longer articles (mean 417 words) mimicking real journalistic structure. Model tricked by surface-level professionalism.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5 — Model Evaluation Curves (Track B, Decontaminated)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56032" y="118872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— Track B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463040"/>
            <a:ext cx="8631936" cy="1691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56032" y="321868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Vector Machine (Linear) — Track B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3493008"/>
            <a:ext cx="8631936" cy="1417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56032" y="4956048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LR: AUC = 0.9992, PR-AUC = 0.9991  ·  SVM: AUC = 0.9998, PR-AUC = 0.9998  ·  Both near-perfect on clean Track B data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6 — Logistic Regression: Top Predictors (Track B)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188720"/>
            <a:ext cx="8631936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56032" y="4526280"/>
            <a:ext cx="2816352" cy="5486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56032" y="4526280"/>
            <a:ext cx="64008" cy="548640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93192" y="4544568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Real Predictors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3192" y="4745736"/>
            <a:ext cx="2606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'said', 'washington', 'on wednesday/tuesday' — formal dateline reporting language, AP/Reuters style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200400" y="4526280"/>
            <a:ext cx="2816352" cy="5486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200400" y="4526280"/>
            <a:ext cx="64008" cy="5486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337560" y="4544568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Fake Predictors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337560" y="4745736"/>
            <a:ext cx="2606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'video', 'via', 'read more', 'image via' — social media sharing artifacts, engagement-bait language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44768" y="4526280"/>
            <a:ext cx="2816352" cy="548640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144768" y="4526280"/>
            <a:ext cx="64008" cy="54864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281928" y="4544568"/>
            <a:ext cx="2606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281928" y="4745736"/>
            <a:ext cx="26060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decontamination, model captures genuine journalistic style vs. informal web content — not just source identity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6 — SHAP Feature Importance: Random Forest (Track C)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188720"/>
            <a:ext cx="521208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23560" y="1188720"/>
            <a:ext cx="3264408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715000" y="1225296"/>
            <a:ext cx="3081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Insights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23560" y="1572768"/>
            <a:ext cx="3264408" cy="603504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715000" y="1609344"/>
            <a:ext cx="30815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title_words (top feature)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715000" y="1828800"/>
            <a:ext cx="3081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values (short titles) → Real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values (long titles) → Fake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SHAP impact by far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623560" y="2231136"/>
            <a:ext cx="3264408" cy="603504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15000" y="2267712"/>
            <a:ext cx="30815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quest_density &amp; excl_density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715000" y="2487168"/>
            <a:ext cx="3081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punctuation density pushes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Fake — sensationalist markers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23560" y="2889504"/>
            <a:ext cx="3264408" cy="603504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715000" y="2926080"/>
            <a:ext cx="30815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flesch_ease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715000" y="3145536"/>
            <a:ext cx="3081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ease score (simpler text)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 toward Fake classification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623560" y="3547872"/>
            <a:ext cx="3264408" cy="603504"/>
          </a:xfrm>
          <a:prstGeom prst="rect">
            <a:avLst/>
          </a:prstGeom>
          <a:solidFill>
            <a:srgbClr val="EDEBE8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15000" y="3584448"/>
            <a:ext cx="30815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vader_neg &amp; caps_ratio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715000" y="3803904"/>
            <a:ext cx="3081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 amplification features;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caps_ratio has high-outlier Fake cases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23560" y="4206240"/>
            <a:ext cx="3264408" cy="603504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715000" y="4242816"/>
            <a:ext cx="30815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type_token_ratio &amp; smog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715000" y="4462272"/>
            <a:ext cx="3081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vocabulary richness and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→ stronger Real signal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Research Findings — Phases 1–6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188720"/>
            <a:ext cx="2816352" cy="177393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6032" y="1188720"/>
            <a:ext cx="2816352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47472" y="1243584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6384" y="1271016"/>
            <a:ext cx="21579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8D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Integrity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47472" y="1572768"/>
            <a:ext cx="2633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Is Real — But Text Signal Is Genuine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47472" y="1920240"/>
            <a:ext cx="2633472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(AUC=1.00) and Reuters (~99%) are pure shortcuts. Yet after full decontamination, LR F1 drops only 0.0025 and SVM actually improves (+0.0037). The text itself contains authentic discriminative signal beyond source identity.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2816352" cy="177393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1188720"/>
            <a:ext cx="2816352" cy="347472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91840" y="1243584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30752" y="1271016"/>
            <a:ext cx="21579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8D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91840" y="1572768"/>
            <a:ext cx="2633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 Outperform Complex Ones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91840" y="1920240"/>
            <a:ext cx="2633472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&gt; LR &gt;&gt; RF/LGBM on clean TF-IDF. Train gap: SVM 0.005 vs RF 0.059. High-dim TF-IDF space is already linearly separable — additional model complexity adds variance, not discriminability. Occam's Razor holds.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44768" y="1188720"/>
            <a:ext cx="2816352" cy="177393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44768" y="1188720"/>
            <a:ext cx="2816352" cy="347472"/>
          </a:xfrm>
          <a:prstGeom prst="rect">
            <a:avLst/>
          </a:prstGeom>
          <a:solidFill>
            <a:srgbClr val="2C3E6B"/>
          </a:solidFill>
          <a:ln w="1270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236208" y="1243584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1271016"/>
            <a:ext cx="21579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8D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Linguistic Evidence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236208" y="1572768"/>
            <a:ext cx="2633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Style Is a Genuine Signal (Not Noise)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36208" y="1920240"/>
            <a:ext cx="2633472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style features → F1 0.88–0.93 with zero vocabulary. Title length (rb=−0.747) alone is the strongest predictor. Fake news is systematically shorter-titled, simpler (Flesch +8.7), more negative (VADER −0.19 vs +0.26). Style differences are statistically robust (p &lt; 0.0083, Bonferroni).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56032" y="3072384"/>
            <a:ext cx="2816352" cy="177393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56032" y="3072384"/>
            <a:ext cx="2816352" cy="347472"/>
          </a:xfrm>
          <a:prstGeom prst="rect">
            <a:avLst/>
          </a:prstGeom>
          <a:solidFill>
            <a:srgbClr val="5B2333"/>
          </a:solidFill>
          <a:ln w="12700">
            <a:solidFill>
              <a:srgbClr val="5B2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47472" y="3127248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86384" y="3154680"/>
            <a:ext cx="21579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8D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Testing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47472" y="3456432"/>
            <a:ext cx="2633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Superiority Is Statistically Confirmed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7472" y="3803904"/>
            <a:ext cx="2633472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 p = 2.26e-16. LR makes 62 errors SVM gets right; SVM makes only 2 errors LR gets right. This is a 31:1 asymmetry — not random variation. SVM's maximum-margin property provides genuine generalisation advantage on this data.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00400" y="3072384"/>
            <a:ext cx="2816352" cy="177393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200400" y="3072384"/>
            <a:ext cx="2816352" cy="347472"/>
          </a:xfrm>
          <a:prstGeom prst="rect">
            <a:avLst/>
          </a:prstGeom>
          <a:solidFill>
            <a:srgbClr val="A0782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291840" y="3127248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730752" y="3154680"/>
            <a:ext cx="21579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8D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291840" y="3456432"/>
            <a:ext cx="2633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Errors Reveal a Cognitive Boundary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291840" y="3803904"/>
            <a:ext cx="2633472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pattern: real news with sensational formatting (ALL CAPS, [TWEET]) — model penalises style, not truth. FN pattern: fake news with formal [politicsNews] labels and longer text (mean 417 words) — model is fooled by surface professionalism. Errors cluster at the style-truth crossover zone.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144768" y="3072384"/>
            <a:ext cx="2816352" cy="1773936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144768" y="3072384"/>
            <a:ext cx="2816352" cy="347472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236208" y="3127248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675120" y="3154680"/>
            <a:ext cx="21579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E8D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Caveat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236208" y="3456432"/>
            <a:ext cx="263347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Limitations Constrain Conclusions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236208" y="3803904"/>
            <a:ext cx="2633472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6,252 duplicate texts, 6,852 near-duplicates, single domain (US political 2015–2017), temporal imbalance (33,030 missing dates). Even Track B/C F1 ≥ 0.99 should not be read as real-world performance. Cross-domain generalisation remains unvalidated.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Limitations, Implications &amp; Future Directions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56032" y="1207008"/>
            <a:ext cx="4224528" cy="347472"/>
          </a:xfrm>
          <a:prstGeom prst="rect">
            <a:avLst/>
          </a:prstGeom>
          <a:solidFill>
            <a:srgbClr val="6B0000"/>
          </a:solidFill>
          <a:ln w="12700">
            <a:solidFill>
              <a:srgbClr val="6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234440"/>
            <a:ext cx="4041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" y="1627632"/>
            <a:ext cx="4224528" cy="74980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56032" y="1627632"/>
            <a:ext cx="64008" cy="7498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84048" y="1682496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domain bias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4048" y="193852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political news only (2015–2017). Performance likely degrades on satire, scientific misinformation, or non-English content.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6032" y="2432304"/>
            <a:ext cx="4224528" cy="74980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56032" y="2432304"/>
            <a:ext cx="64008" cy="7498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4048" y="248716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contamination risk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" y="2743200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Near-duplicates across train/test splits may inflate reported F1. True held-out performance on future data is unknown.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56032" y="3236976"/>
            <a:ext cx="4224528" cy="74980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56032" y="3236976"/>
            <a:ext cx="64008" cy="7498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84048" y="3291840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 modelling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" y="3547872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see article text only — no author history, sharing network, metadata provenance, or claim verification against knowledge bases.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6032" y="4041648"/>
            <a:ext cx="4224528" cy="74980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56032" y="4041648"/>
            <a:ext cx="64008" cy="7498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84048" y="4096512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vocabulary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4048" y="4352544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trained on 2015–2017 language. Adversarial actors can adapt style; a static model cannot track evolving deception strategies.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1207008"/>
            <a:ext cx="4224528" cy="347472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54880" y="1234440"/>
            <a:ext cx="4041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63440" y="1627632"/>
            <a:ext cx="4224528" cy="74980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1627632"/>
            <a:ext cx="64008" cy="749808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91456" y="1682496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Cross-domain evaluation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91456" y="193852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LIAR, FakeNewsNet, CREDBANK datasets. Measure how much Track B/C performance degrades across domains and time periods.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432304"/>
            <a:ext cx="4224528" cy="74980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63440" y="2432304"/>
            <a:ext cx="64008" cy="749808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91456" y="248716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Transformer-based models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91456" y="2743200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BERT/RoBERTa on decontaminated Track B — can contextual embeddings capture subtler deception patterns that TF-IDF misses?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236976"/>
            <a:ext cx="4224528" cy="74980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64008" cy="749808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91456" y="3291840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robustness testing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91456" y="3547872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 attack: rewrite fake articles to mimic real vocabulary. Quantify how much F1 drops — tests whether the model learned meaning or surface form.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63440" y="4041648"/>
            <a:ext cx="4224528" cy="749808"/>
          </a:xfrm>
          <a:prstGeom prst="rect">
            <a:avLst/>
          </a:prstGeom>
          <a:solidFill>
            <a:srgbClr val="F0EBE5"/>
          </a:solidFill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663440" y="4041648"/>
            <a:ext cx="64008" cy="749808"/>
          </a:xfrm>
          <a:prstGeom prst="rect">
            <a:avLst/>
          </a:prstGeom>
          <a:solidFill>
            <a:srgbClr val="1F5C5C"/>
          </a:solidFill>
          <a:ln w="12700">
            <a:solidFill>
              <a:srgbClr val="1F5C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791456" y="4096512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Calibration-aware deployment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91456" y="4352544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LR's well-calibrated probabilities for priority queuing rather than hard thresholding. Build reject-option classifier for ambiguous cases.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6B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2788920"/>
            <a:ext cx="3657600" cy="91440"/>
          </a:xfrm>
          <a:prstGeom prst="rect">
            <a:avLst/>
          </a:prstGeom>
          <a:solidFill>
            <a:srgbClr val="A07820"/>
          </a:solidFill>
          <a:ln w="12700">
            <a:solidFill>
              <a:srgbClr val="A078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2971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EDD8C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6118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Hareen Sai Vatikuti  ·  Raj Purohith Arjun  ·  Venkateswarlu Nagineni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0050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0A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 654  ·  Texas A&amp;M University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0" y="47548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C745183B7BF7A46ABE54D97C893197D" ma:contentTypeVersion="12" ma:contentTypeDescription="Create a new document." ma:contentTypeScope="" ma:versionID="028eae162f34eda33913a11d11f4b710">
  <xsd:schema xmlns:xsd="http://www.w3.org/2001/XMLSchema" xmlns:xs="http://www.w3.org/2001/XMLSchema" xmlns:p="http://schemas.microsoft.com/office/2006/metadata/properties" xmlns:ns3="b91b424d-5fb9-4b5c-8787-e3e4aabc2c7b" targetNamespace="http://schemas.microsoft.com/office/2006/metadata/properties" ma:root="true" ma:fieldsID="38fd1d64a6f58d7d2c57df96d6fbe536" ns3:_="">
    <xsd:import namespace="b91b424d-5fb9-4b5c-8787-e3e4aabc2c7b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1b424d-5fb9-4b5c-8787-e3e4aabc2c7b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91b424d-5fb9-4b5c-8787-e3e4aabc2c7b" xsi:nil="true"/>
  </documentManagement>
</p:properties>
</file>

<file path=customXml/itemProps1.xml><?xml version="1.0" encoding="utf-8"?>
<ds:datastoreItem xmlns:ds="http://schemas.openxmlformats.org/officeDocument/2006/customXml" ds:itemID="{B8ED2169-AD6D-49AE-8181-28E8615E1AA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91b424d-5fb9-4b5c-8787-e3e4aabc2c7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1773652-E3F2-43E6-92DC-25CB839902F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11DF2FB-D0A8-46E3-A1D8-CE164A6D3074}">
  <ds:schemaRefs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b91b424d-5fb9-4b5c-8787-e3e4aabc2c7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3378</Words>
  <Application>Microsoft Office PowerPoint</Application>
  <PresentationFormat>On-screen Show (16:9)</PresentationFormat>
  <Paragraphs>579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ISOT Fake News Detection</dc:title>
  <dc:subject>PptxGenJS Presentation</dc:subject>
  <dc:creator>PptxGenJS</dc:creator>
  <cp:lastModifiedBy>Nagineni, Venkateswarlu</cp:lastModifiedBy>
  <cp:revision>7</cp:revision>
  <dcterms:created xsi:type="dcterms:W3CDTF">2026-04-16T23:02:28Z</dcterms:created>
  <dcterms:modified xsi:type="dcterms:W3CDTF">2026-04-16T23:13:20Z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0x010100FC745183B7BF7A46ABE54D97C893197D</vt:lpwstr>
  </property>
</Properties>
</file>